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1.svg" ContentType="image/svg"/>
  <Override PartName="/ppt/media/image10.png" ContentType="image/png"/>
  <Override PartName="/ppt/media/image1.png" ContentType="image/png"/>
  <Override PartName="/ppt/media/image13.svg" ContentType="image/svg"/>
  <Override PartName="/ppt/media/image9.svg" ContentType="image/svg"/>
  <Override PartName="/ppt/media/image12.png" ContentType="image/png"/>
  <Override PartName="/ppt/media/image3.png" ContentType="image/png"/>
  <Override PartName="/ppt/media/image8.png" ContentType="image/png"/>
  <Override PartName="/ppt/media/image17.png" ContentType="image/png"/>
  <Override PartName="/ppt/media/image20.jpeg" ContentType="image/jpeg"/>
  <Override PartName="/ppt/media/image21.wmf" ContentType="image/x-wmf"/>
  <Override PartName="/ppt/media/image19.jpeg" ContentType="image/jpeg"/>
  <Override PartName="/ppt/media/image18.png" ContentType="image/png"/>
  <Override PartName="/ppt/media/image2.png" ContentType="image/png"/>
  <Override PartName="/ppt/media/image22.jpeg" ContentType="image/jpeg"/>
  <Override PartName="/ppt/media/image4.png" ContentType="image/png"/>
  <Override PartName="/ppt/media/image14.png" ContentType="image/png"/>
  <Override PartName="/ppt/media/image5.png" ContentType="image/png"/>
  <Override PartName="/ppt/media/image15.svg" ContentType="image/svg"/>
  <Override PartName="/ppt/media/image6.svg" ContentType="image/svg"/>
  <Override PartName="/ppt/media/image16.png" ContentType="image/png"/>
  <Override PartName="/ppt/media/image7.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8288000" cy="10287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6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6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62"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3"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4"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995040E6-1785-4F38-A5D3-068D52E27BC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trike="noStrike" u="none">
              <a:solidFill>
                <a:schemeClr val="dk1"/>
              </a:solidFill>
              <a:effectLst/>
              <a:uFillTx/>
              <a:latin typeface="+mn-lt"/>
              <a:ea typeface="+mn-ea"/>
            </a:endParaRPr>
          </a:p>
        </p:txBody>
      </p:sp>
      <p:sp>
        <p:nvSpPr>
          <p:cNvPr id="529" name="PlaceHolder 2"/>
          <p:cNvSpPr>
            <a:spLocks noGrp="1"/>
          </p:cNvSpPr>
          <p:nvPr>
            <p:ph type="dt" idx="37"/>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1.7.2013</a:t>
            </a:r>
            <a:endParaRPr b="0" lang="en-US" sz="1200" strike="noStrike" u="none">
              <a:solidFill>
                <a:srgbClr val="000000"/>
              </a:solidFill>
              <a:effectLst/>
              <a:uFillTx/>
              <a:latin typeface="Times New Roman"/>
            </a:endParaRPr>
          </a:p>
        </p:txBody>
      </p:sp>
      <p:sp>
        <p:nvSpPr>
          <p:cNvPr id="530" name="PlaceHolder 3"/>
          <p:cNvSpPr>
            <a:spLocks noGrp="1"/>
          </p:cNvSpPr>
          <p:nvPr>
            <p:ph type="sldImg"/>
          </p:nvPr>
        </p:nvSpPr>
        <p:spPr>
          <a:xfrm>
            <a:off x="2290680" y="512640"/>
            <a:ext cx="4562280" cy="2566800"/>
          </a:xfrm>
          <a:prstGeom prst="rect">
            <a:avLst/>
          </a:prstGeom>
          <a:ln w="0">
            <a:noFill/>
          </a:ln>
        </p:spPr>
      </p:sp>
      <p:sp>
        <p:nvSpPr>
          <p:cNvPr id="531"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32" name="PlaceHolder 5"/>
          <p:cNvSpPr>
            <a:spLocks noGrp="1"/>
          </p:cNvSpPr>
          <p:nvPr>
            <p:ph type="ftr" idx="38"/>
          </p:nvPr>
        </p:nvSpPr>
        <p:spPr>
          <a:xfrm>
            <a:off x="0" y="6502320"/>
            <a:ext cx="3962160" cy="340920"/>
          </a:xfrm>
          <a:prstGeom prst="rect">
            <a:avLst/>
          </a:prstGeom>
          <a:noFill/>
          <a:ln w="0">
            <a:noFill/>
          </a:ln>
        </p:spPr>
        <p:txBody>
          <a:bodyPr lIns="91440" rIns="91440" tIns="45720" bIns="45720" anchor="b">
            <a:noAutofit/>
          </a:bodyPr>
          <a:p>
            <a:pPr indent="0">
              <a:buNone/>
            </a:pPr>
            <a:endParaRPr b="0" lang="en-US" sz="1200" strike="noStrike" u="none">
              <a:solidFill>
                <a:srgbClr val="000000"/>
              </a:solidFill>
              <a:effectLst/>
              <a:uFillTx/>
              <a:latin typeface="Times New Roman"/>
            </a:endParaRPr>
          </a:p>
        </p:txBody>
      </p:sp>
      <p:sp>
        <p:nvSpPr>
          <p:cNvPr id="533" name="PlaceHolder 6"/>
          <p:cNvSpPr>
            <a:spLocks noGrp="1"/>
          </p:cNvSpPr>
          <p:nvPr>
            <p:ph type="sldNum" idx="39"/>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a:t>
            </a:r>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trike="noStrike" u="none">
              <a:solidFill>
                <a:schemeClr val="dk1"/>
              </a:solidFill>
              <a:effectLst/>
              <a:uFillTx/>
              <a:latin typeface="+mn-lt"/>
              <a:ea typeface="+mn-ea"/>
            </a:endParaRPr>
          </a:p>
        </p:txBody>
      </p:sp>
      <p:sp>
        <p:nvSpPr>
          <p:cNvPr id="535" name="PlaceHolder 2"/>
          <p:cNvSpPr>
            <a:spLocks noGrp="1"/>
          </p:cNvSpPr>
          <p:nvPr>
            <p:ph type="dt" idx="40"/>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1.7.2013</a:t>
            </a:r>
            <a:endParaRPr b="0" lang="en-US" sz="1200" strike="noStrike" u="none">
              <a:solidFill>
                <a:srgbClr val="000000"/>
              </a:solidFill>
              <a:effectLst/>
              <a:uFillTx/>
              <a:latin typeface="Times New Roman"/>
            </a:endParaRPr>
          </a:p>
        </p:txBody>
      </p:sp>
      <p:sp>
        <p:nvSpPr>
          <p:cNvPr id="536" name="PlaceHolder 3"/>
          <p:cNvSpPr>
            <a:spLocks noGrp="1"/>
          </p:cNvSpPr>
          <p:nvPr>
            <p:ph type="sldImg"/>
          </p:nvPr>
        </p:nvSpPr>
        <p:spPr>
          <a:xfrm>
            <a:off x="2290680" y="512640"/>
            <a:ext cx="4562280" cy="2566800"/>
          </a:xfrm>
          <a:prstGeom prst="rect">
            <a:avLst/>
          </a:prstGeom>
          <a:ln w="0">
            <a:noFill/>
          </a:ln>
        </p:spPr>
      </p:sp>
      <p:sp>
        <p:nvSpPr>
          <p:cNvPr id="537"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38" name="PlaceHolder 5"/>
          <p:cNvSpPr>
            <a:spLocks noGrp="1"/>
          </p:cNvSpPr>
          <p:nvPr>
            <p:ph type="ftr" idx="41"/>
          </p:nvPr>
        </p:nvSpPr>
        <p:spPr>
          <a:xfrm>
            <a:off x="0" y="6502320"/>
            <a:ext cx="3962160" cy="340920"/>
          </a:xfrm>
          <a:prstGeom prst="rect">
            <a:avLst/>
          </a:prstGeom>
          <a:noFill/>
          <a:ln w="0">
            <a:noFill/>
          </a:ln>
        </p:spPr>
        <p:txBody>
          <a:bodyPr lIns="91440" rIns="91440" tIns="45720" bIns="45720" anchor="b">
            <a:noAutofit/>
          </a:bodyPr>
          <a:p>
            <a:pPr indent="0">
              <a:buNone/>
            </a:pPr>
            <a:endParaRPr b="0" lang="en-US" sz="1200" strike="noStrike" u="none">
              <a:solidFill>
                <a:srgbClr val="000000"/>
              </a:solidFill>
              <a:effectLst/>
              <a:uFillTx/>
              <a:latin typeface="Times New Roman"/>
            </a:endParaRPr>
          </a:p>
        </p:txBody>
      </p:sp>
      <p:sp>
        <p:nvSpPr>
          <p:cNvPr id="539" name="PlaceHolder 6"/>
          <p:cNvSpPr>
            <a:spLocks noGrp="1"/>
          </p:cNvSpPr>
          <p:nvPr>
            <p:ph type="sldNum" idx="42"/>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a:t>
            </a:r>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trike="noStrike" u="none">
              <a:solidFill>
                <a:schemeClr val="dk1"/>
              </a:solidFill>
              <a:effectLst/>
              <a:uFillTx/>
              <a:latin typeface="+mn-lt"/>
              <a:ea typeface="+mn-ea"/>
            </a:endParaRPr>
          </a:p>
        </p:txBody>
      </p:sp>
      <p:sp>
        <p:nvSpPr>
          <p:cNvPr id="541" name="PlaceHolder 2"/>
          <p:cNvSpPr>
            <a:spLocks noGrp="1"/>
          </p:cNvSpPr>
          <p:nvPr>
            <p:ph type="dt" idx="43"/>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1.7.2013</a:t>
            </a:r>
            <a:endParaRPr b="0" lang="en-US" sz="1200" strike="noStrike" u="none">
              <a:solidFill>
                <a:srgbClr val="000000"/>
              </a:solidFill>
              <a:effectLst/>
              <a:uFillTx/>
              <a:latin typeface="Times New Roman"/>
            </a:endParaRPr>
          </a:p>
        </p:txBody>
      </p:sp>
      <p:sp>
        <p:nvSpPr>
          <p:cNvPr id="542" name="PlaceHolder 3"/>
          <p:cNvSpPr>
            <a:spLocks noGrp="1"/>
          </p:cNvSpPr>
          <p:nvPr>
            <p:ph type="sldImg"/>
          </p:nvPr>
        </p:nvSpPr>
        <p:spPr>
          <a:xfrm>
            <a:off x="2290680" y="512640"/>
            <a:ext cx="4562280" cy="2566800"/>
          </a:xfrm>
          <a:prstGeom prst="rect">
            <a:avLst/>
          </a:prstGeom>
          <a:ln w="0">
            <a:noFill/>
          </a:ln>
        </p:spPr>
      </p:sp>
      <p:sp>
        <p:nvSpPr>
          <p:cNvPr id="543"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Universitas Buddhi Dharma</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Kreatifitas Membangkitkan Inovasi</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14</a:t>
            </a:r>
            <a:endParaRPr b="0" lang="en-US" sz="2000" strike="noStrike" u="none">
              <a:solidFill>
                <a:srgbClr val="000000"/>
              </a:solidFill>
              <a:effectLst/>
              <a:uFillTx/>
              <a:latin typeface="Arial"/>
            </a:endParaRPr>
          </a:p>
        </p:txBody>
      </p:sp>
      <p:sp>
        <p:nvSpPr>
          <p:cNvPr id="544" name="PlaceHolder 5"/>
          <p:cNvSpPr>
            <a:spLocks noGrp="1"/>
          </p:cNvSpPr>
          <p:nvPr>
            <p:ph type="ftr" idx="44"/>
          </p:nvPr>
        </p:nvSpPr>
        <p:spPr>
          <a:xfrm>
            <a:off x="0" y="6502320"/>
            <a:ext cx="3962160" cy="340920"/>
          </a:xfrm>
          <a:prstGeom prst="rect">
            <a:avLst/>
          </a:prstGeom>
          <a:noFill/>
          <a:ln w="0">
            <a:noFill/>
          </a:ln>
        </p:spPr>
        <p:txBody>
          <a:bodyPr lIns="91440" rIns="91440" tIns="45720" bIns="45720" anchor="b">
            <a:noAutofit/>
          </a:bodyPr>
          <a:p>
            <a:pPr indent="0">
              <a:buNone/>
            </a:pPr>
            <a:endParaRPr b="0" lang="en-US" sz="1200" strike="noStrike" u="none">
              <a:solidFill>
                <a:srgbClr val="000000"/>
              </a:solidFill>
              <a:effectLst/>
              <a:uFillTx/>
              <a:latin typeface="Times New Roman"/>
            </a:endParaRPr>
          </a:p>
        </p:txBody>
      </p:sp>
      <p:sp>
        <p:nvSpPr>
          <p:cNvPr id="545" name="PlaceHolder 6"/>
          <p:cNvSpPr>
            <a:spLocks noGrp="1"/>
          </p:cNvSpPr>
          <p:nvPr>
            <p:ph type="sldNum" idx="45"/>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a:t>
            </a:r>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hdr"/>
          </p:nvPr>
        </p:nvSpPr>
        <p:spPr>
          <a:xfrm>
            <a:off x="0" y="0"/>
            <a:ext cx="3962160" cy="342720"/>
          </a:xfrm>
          <a:prstGeom prst="rect">
            <a:avLst/>
          </a:prstGeom>
          <a:noFill/>
          <a:ln w="0">
            <a:noFill/>
          </a:ln>
        </p:spPr>
        <p:txBody>
          <a:bodyPr lIns="91440" rIns="91440" tIns="45720" bIns="45720" anchor="t">
            <a:noAutofit/>
          </a:bodyPr>
          <a:p>
            <a:pPr indent="0">
              <a:buNone/>
            </a:pPr>
            <a:endParaRPr b="0" lang="en-US" sz="1200" strike="noStrike" u="none">
              <a:solidFill>
                <a:schemeClr val="dk1"/>
              </a:solidFill>
              <a:effectLst/>
              <a:uFillTx/>
              <a:latin typeface="+mn-lt"/>
              <a:ea typeface="+mn-ea"/>
            </a:endParaRPr>
          </a:p>
        </p:txBody>
      </p:sp>
      <p:sp>
        <p:nvSpPr>
          <p:cNvPr id="547" name="PlaceHolder 2"/>
          <p:cNvSpPr>
            <a:spLocks noGrp="1"/>
          </p:cNvSpPr>
          <p:nvPr>
            <p:ph type="dt" idx="46"/>
          </p:nvPr>
        </p:nvSpPr>
        <p:spPr>
          <a:xfrm>
            <a:off x="5180040" y="0"/>
            <a:ext cx="3962160" cy="342720"/>
          </a:xfrm>
          <a:prstGeom prst="rect">
            <a:avLst/>
          </a:prstGeom>
          <a:noFill/>
          <a:ln w="0">
            <a:noFill/>
          </a:ln>
        </p:spPr>
        <p:txBody>
          <a:bodyPr lIns="91440" rIns="91440" tIns="45720" bIns="45720" anchor="t">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1.7.2013</a:t>
            </a:r>
            <a:endParaRPr b="0" lang="en-US" sz="1200" strike="noStrike" u="none">
              <a:solidFill>
                <a:srgbClr val="000000"/>
              </a:solidFill>
              <a:effectLst/>
              <a:uFillTx/>
              <a:latin typeface="Times New Roman"/>
            </a:endParaRPr>
          </a:p>
        </p:txBody>
      </p:sp>
      <p:sp>
        <p:nvSpPr>
          <p:cNvPr id="548" name="PlaceHolder 3"/>
          <p:cNvSpPr>
            <a:spLocks noGrp="1"/>
          </p:cNvSpPr>
          <p:nvPr>
            <p:ph type="sldImg"/>
          </p:nvPr>
        </p:nvSpPr>
        <p:spPr>
          <a:xfrm>
            <a:off x="2290680" y="512640"/>
            <a:ext cx="4562280" cy="2566800"/>
          </a:xfrm>
          <a:prstGeom prst="rect">
            <a:avLst/>
          </a:prstGeom>
          <a:ln w="0">
            <a:noFill/>
          </a:ln>
        </p:spPr>
      </p:sp>
      <p:sp>
        <p:nvSpPr>
          <p:cNvPr id="549" name="PlaceHolder 4"/>
          <p:cNvSpPr>
            <a:spLocks noGrp="1"/>
          </p:cNvSpPr>
          <p:nvPr>
            <p:ph type="body"/>
          </p:nvPr>
        </p:nvSpPr>
        <p:spPr>
          <a:xfrm>
            <a:off x="914400" y="3251160"/>
            <a:ext cx="7314840" cy="308088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Universitas Buddhi Dharma</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Kreatifitas Membangkitkan Inovasi</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14</a:t>
            </a:r>
            <a:endParaRPr b="0" lang="en-US" sz="2000" strike="noStrike" u="none">
              <a:solidFill>
                <a:srgbClr val="000000"/>
              </a:solidFill>
              <a:effectLst/>
              <a:uFillTx/>
              <a:latin typeface="Arial"/>
            </a:endParaRPr>
          </a:p>
        </p:txBody>
      </p:sp>
      <p:sp>
        <p:nvSpPr>
          <p:cNvPr id="550" name="PlaceHolder 5"/>
          <p:cNvSpPr>
            <a:spLocks noGrp="1"/>
          </p:cNvSpPr>
          <p:nvPr>
            <p:ph type="ftr" idx="47"/>
          </p:nvPr>
        </p:nvSpPr>
        <p:spPr>
          <a:xfrm>
            <a:off x="0" y="6502320"/>
            <a:ext cx="3962160" cy="340920"/>
          </a:xfrm>
          <a:prstGeom prst="rect">
            <a:avLst/>
          </a:prstGeom>
          <a:noFill/>
          <a:ln w="0">
            <a:noFill/>
          </a:ln>
        </p:spPr>
        <p:txBody>
          <a:bodyPr lIns="91440" rIns="91440" tIns="45720" bIns="45720" anchor="b">
            <a:noAutofit/>
          </a:bodyPr>
          <a:p>
            <a:pPr indent="0">
              <a:buNone/>
            </a:pPr>
            <a:endParaRPr b="0" lang="en-US" sz="1200" strike="noStrike" u="none">
              <a:solidFill>
                <a:srgbClr val="000000"/>
              </a:solidFill>
              <a:effectLst/>
              <a:uFillTx/>
              <a:latin typeface="Times New Roman"/>
            </a:endParaRPr>
          </a:p>
        </p:txBody>
      </p:sp>
      <p:sp>
        <p:nvSpPr>
          <p:cNvPr id="551" name="PlaceHolder 6"/>
          <p:cNvSpPr>
            <a:spLocks noGrp="1"/>
          </p:cNvSpPr>
          <p:nvPr>
            <p:ph type="sldNum" idx="48"/>
          </p:nvPr>
        </p:nvSpPr>
        <p:spPr>
          <a:xfrm>
            <a:off x="5180040" y="6502320"/>
            <a:ext cx="3962160" cy="340920"/>
          </a:xfrm>
          <a:prstGeom prst="rect">
            <a:avLst/>
          </a:prstGeom>
          <a:noFill/>
          <a:ln w="0">
            <a:noFill/>
          </a:ln>
        </p:spPr>
        <p:txBody>
          <a:bodyPr lIns="91440" rIns="91440" tIns="45720" bIns="45720" anchor="b">
            <a:noAutofit/>
          </a:bodyPr>
          <a:lstStyle>
            <a:lvl1pPr indent="0" algn="r">
              <a:lnSpc>
                <a:spcPct val="100000"/>
              </a:lnSpc>
              <a:buNone/>
              <a:defRPr b="0" lang="cs-CZ" sz="1200" strike="noStrike" u="none">
                <a:solidFill>
                  <a:srgbClr val="000000"/>
                </a:solidFill>
                <a:effectLst/>
                <a:uFillTx/>
                <a:latin typeface="Times New Roman"/>
              </a:defRPr>
            </a:lvl1pPr>
          </a:lstStyle>
          <a:p>
            <a:pPr indent="0" algn="r">
              <a:lnSpc>
                <a:spcPct val="100000"/>
              </a:lnSpc>
              <a:buNone/>
            </a:pPr>
            <a:r>
              <a:rPr b="0" lang="cs-CZ" sz="1200" strike="noStrike" u="none">
                <a:solidFill>
                  <a:srgbClr val="000000"/>
                </a:solidFill>
                <a:effectLst/>
                <a:uFillTx/>
                <a:latin typeface="Times New Roman"/>
              </a:rPr>
              <a:t>‹#›</a:t>
            </a:r>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a:t>
            </a:r>
            <a:r>
              <a:rPr b="0" lang="en-US" sz="4400" strike="noStrike" u="none">
                <a:solidFill>
                  <a:schemeClr val="dk1"/>
                </a:solidFill>
                <a:effectLst/>
                <a:uFillTx/>
                <a:latin typeface="Calibri"/>
              </a:rPr>
              <a:t>ck </a:t>
            </a:r>
            <a:r>
              <a:rPr b="0" lang="en-US" sz="4400" strike="noStrike" u="none">
                <a:solidFill>
                  <a:schemeClr val="dk1"/>
                </a:solidFill>
                <a:effectLst/>
                <a:uFillTx/>
                <a:latin typeface="Calibri"/>
              </a:rPr>
              <a:t>to </a:t>
            </a:r>
            <a:r>
              <a:rPr b="0" lang="en-US" sz="4400" strike="noStrike" u="none">
                <a:solidFill>
                  <a:schemeClr val="dk1"/>
                </a:solidFill>
                <a:effectLst/>
                <a:uFillTx/>
                <a:latin typeface="Calibri"/>
              </a:rPr>
              <a:t>ed</a:t>
            </a:r>
            <a:r>
              <a:rPr b="0" lang="en-US" sz="4400" strike="noStrike" u="none">
                <a:solidFill>
                  <a:schemeClr val="dk1"/>
                </a:solidFill>
                <a:effectLst/>
                <a:uFillTx/>
                <a:latin typeface="Calibri"/>
              </a:rPr>
              <a:t>it </a:t>
            </a:r>
            <a:r>
              <a:rPr b="0" lang="en-US" sz="4400" strike="noStrike" u="none">
                <a:solidFill>
                  <a:schemeClr val="dk1"/>
                </a:solidFill>
                <a:effectLst/>
                <a:uFillTx/>
                <a:latin typeface="Calibri"/>
              </a:rPr>
              <a:t>M</a:t>
            </a:r>
            <a:r>
              <a:rPr b="0" lang="en-US" sz="4400" strike="noStrike" u="none">
                <a:solidFill>
                  <a:schemeClr val="dk1"/>
                </a:solidFill>
                <a:effectLst/>
                <a:uFillTx/>
                <a:latin typeface="Calibri"/>
              </a:rPr>
              <a:t>as</a:t>
            </a:r>
            <a:r>
              <a:rPr b="0" lang="en-US" sz="4400" strike="noStrike" u="none">
                <a:solidFill>
                  <a:schemeClr val="dk1"/>
                </a:solidFill>
                <a:effectLst/>
                <a:uFillTx/>
                <a:latin typeface="Calibri"/>
              </a:rPr>
              <a:t>te</a:t>
            </a:r>
            <a:r>
              <a:rPr b="0" lang="en-US" sz="4400" strike="noStrike" u="none">
                <a:solidFill>
                  <a:schemeClr val="dk1"/>
                </a:solidFill>
                <a:effectLst/>
                <a:uFillTx/>
                <a:latin typeface="Calibri"/>
              </a:rPr>
              <a:t>r </a:t>
            </a:r>
            <a:r>
              <a:rPr b="0" lang="en-US" sz="4400" strike="noStrike" u="none">
                <a:solidFill>
                  <a:schemeClr val="dk1"/>
                </a:solidFill>
                <a:effectLst/>
                <a:uFillTx/>
                <a:latin typeface="Calibri"/>
              </a:rPr>
              <a:t>tit</a:t>
            </a:r>
            <a:r>
              <a:rPr b="0" lang="en-US" sz="4400" strike="noStrike" u="none">
                <a:solidFill>
                  <a:schemeClr val="dk1"/>
                </a:solidFill>
                <a:effectLst/>
                <a:uFillTx/>
                <a:latin typeface="Calibri"/>
              </a:rPr>
              <a:t>le </a:t>
            </a:r>
            <a:r>
              <a:rPr b="0" lang="en-US" sz="4400" strike="noStrike" u="none">
                <a:solidFill>
                  <a:schemeClr val="dk1"/>
                </a:solidFill>
                <a:effectLst/>
                <a:uFillTx/>
                <a:latin typeface="Calibri"/>
              </a:rPr>
              <a:t>st</a:t>
            </a:r>
            <a:r>
              <a:rPr b="0" lang="en-US" sz="4400" strike="noStrike" u="none">
                <a:solidFill>
                  <a:schemeClr val="dk1"/>
                </a:solidFill>
                <a:effectLst/>
                <a:uFillTx/>
                <a:latin typeface="Calibri"/>
              </a:rPr>
              <a:t>yl</a:t>
            </a:r>
            <a:r>
              <a:rPr b="0" lang="en-US" sz="4400" strike="noStrike" u="none">
                <a:solidFill>
                  <a:schemeClr val="dk1"/>
                </a:solidFill>
                <a:effectLst/>
                <a:uFillTx/>
                <a:latin typeface="Calibri"/>
              </a:rPr>
              <a:t>e</a:t>
            </a:r>
            <a:endParaRPr b="0" lang="en-US" sz="4400" strike="noStrike" u="none">
              <a:solidFill>
                <a:schemeClr val="dk1"/>
              </a:solidFill>
              <a:effectLst/>
              <a:uFillTx/>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7684E40B-0A1B-4AFC-B08B-26D7808C988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6"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7"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3C757A2F-64BD-40A7-BDA4-FA70D253B2E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0"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1"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2"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A1403F8B-DE45-4DB6-AA5A-AE17210D0526}"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6"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7"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A62E8EA6-987B-41EB-80CC-E5424560B64C}"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trike="noStrike" u="none" cap="all">
                <a:solidFill>
                  <a:schemeClr val="dk1"/>
                </a:solidFill>
                <a:effectLst/>
                <a:uFillTx/>
                <a:latin typeface="Calibri"/>
              </a:rPr>
              <a:t>Click to edit Master title style</a:t>
            </a:r>
            <a:endParaRPr b="0" lang="en-US" sz="4000" strike="noStrike" u="none">
              <a:solidFill>
                <a:schemeClr val="dk1"/>
              </a:solidFill>
              <a:effectLst/>
              <a:uFillTx/>
              <a:latin typeface="Calibri"/>
            </a:endParaRPr>
          </a:p>
        </p:txBody>
      </p:sp>
      <p:sp>
        <p:nvSpPr>
          <p:cNvPr id="20"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chemeClr val="dk1"/>
              </a:solidFill>
              <a:effectLst/>
              <a:uFillTx/>
              <a:latin typeface="Calibri"/>
            </a:endParaRPr>
          </a:p>
        </p:txBody>
      </p:sp>
      <p:sp>
        <p:nvSpPr>
          <p:cNvPr id="21"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2"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E226FA0D-3B66-4406-85FF-15B479025251}"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25"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6"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7"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8"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9"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D65F10C2-5C96-4422-A77C-542B2C40A184}"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1"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2"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3"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4"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5"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6"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7"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367FC099-A37A-4183-AD0D-AF4DF5DD472B}"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9"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0"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2FCCDEE0-9A6B-4340-8AF8-BA96576968C0}"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3"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4"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CC6022F8-1339-4387-B6FC-97C80E363DCA}"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45"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46"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48"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49"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0"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1"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459F9ECE-E809-4A1F-821E-7137A1C5629C}"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4"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55"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6"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7"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8"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FE67D06B-6702-4063-8BCC-F35AAACF48B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16.png"/><Relationship Id="rId12" Type="http://schemas.openxmlformats.org/officeDocument/2006/relationships/slideLayout" Target="../slideLayouts/slideLayout9.xml"/><Relationship Id="rId1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17.png"/><Relationship Id="rId12" Type="http://schemas.openxmlformats.org/officeDocument/2006/relationships/slideLayout" Target="../slideLayouts/slideLayout9.xml"/><Relationship Id="rId1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18.png"/><Relationship Id="rId1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19.jpeg"/><Relationship Id="rId1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20.jpeg"/><Relationship Id="rId12"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21.wmf"/><Relationship Id="rId12"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image" Target="../media/image22.jpeg"/><Relationship Id="rId12" Type="http://schemas.openxmlformats.org/officeDocument/2006/relationships/slideLayout" Target="../slideLayouts/slideLayout9.xml"/><Relationship Id="rId1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14.png"/><Relationship Id="rId10" Type="http://schemas.openxmlformats.org/officeDocument/2006/relationships/image" Target="../media/image15.svg"/><Relationship Id="rId11" Type="http://schemas.openxmlformats.org/officeDocument/2006/relationships/slideLayout" Target="../slideLayouts/slideLayout9.xml"/><Relationship Id="rId1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5" name="Group 2"/>
          <p:cNvGrpSpPr/>
          <p:nvPr/>
        </p:nvGrpSpPr>
        <p:grpSpPr>
          <a:xfrm>
            <a:off x="21600" y="8652240"/>
            <a:ext cx="18265680" cy="1634400"/>
            <a:chOff x="21600" y="8652240"/>
            <a:chExt cx="18265680" cy="1634400"/>
          </a:xfrm>
        </p:grpSpPr>
        <p:sp>
          <p:nvSpPr>
            <p:cNvPr id="66"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67" name="TextBox 4"/>
          <p:cNvSpPr/>
          <p:nvPr/>
        </p:nvSpPr>
        <p:spPr>
          <a:xfrm>
            <a:off x="-365760" y="3322440"/>
            <a:ext cx="3931560" cy="362520"/>
          </a:xfrm>
          <a:prstGeom prst="rect">
            <a:avLst/>
          </a:prstGeom>
          <a:noFill/>
          <a:ln w="0">
            <a:noFill/>
          </a:ln>
        </p:spPr>
        <p:style>
          <a:lnRef idx="0"/>
          <a:fillRef idx="0"/>
          <a:effectRef idx="0"/>
          <a:fontRef idx="minor"/>
        </p:style>
        <p:txBody>
          <a:bodyPr lIns="0" rIns="0" tIns="0" bIns="0" anchor="t">
            <a:spAutoFit/>
          </a:bodyPr>
          <a:p>
            <a:pPr algn="r" defTabSz="914400">
              <a:lnSpc>
                <a:spcPts val="2160"/>
              </a:lnSpc>
            </a:pPr>
            <a:r>
              <a:rPr b="0" lang="en-US" sz="1800" strike="noStrike" u="none">
                <a:solidFill>
                  <a:srgbClr val="000000"/>
                </a:solidFill>
                <a:effectLst/>
                <a:uFillTx/>
                <a:latin typeface="Arial"/>
                <a:ea typeface="Arial"/>
              </a:rPr>
              <a:t>Pertemuan ke:</a:t>
            </a:r>
            <a:endParaRPr b="0" lang="en-US" sz="1800" strike="noStrike" u="none">
              <a:solidFill>
                <a:srgbClr val="000000"/>
              </a:solidFill>
              <a:effectLst/>
              <a:uFillTx/>
              <a:latin typeface="Arial"/>
            </a:endParaRPr>
          </a:p>
        </p:txBody>
      </p:sp>
      <p:sp>
        <p:nvSpPr>
          <p:cNvPr id="68" name="TextBox 5"/>
          <p:cNvSpPr/>
          <p:nvPr/>
        </p:nvSpPr>
        <p:spPr>
          <a:xfrm>
            <a:off x="-365760" y="5951160"/>
            <a:ext cx="3931560" cy="316440"/>
          </a:xfrm>
          <a:prstGeom prst="rect">
            <a:avLst/>
          </a:prstGeom>
          <a:noFill/>
          <a:ln w="0">
            <a:noFill/>
          </a:ln>
        </p:spPr>
        <p:style>
          <a:lnRef idx="0"/>
          <a:fillRef idx="0"/>
          <a:effectRef idx="0"/>
          <a:fontRef idx="minor"/>
        </p:style>
        <p:txBody>
          <a:bodyPr lIns="0" rIns="0" tIns="0" bIns="0" anchor="t">
            <a:spAutoFit/>
          </a:bodyPr>
          <a:p>
            <a:pPr algn="r" defTabSz="914400">
              <a:lnSpc>
                <a:spcPts val="1800"/>
              </a:lnSpc>
            </a:pPr>
            <a:r>
              <a:rPr b="0" lang="en-US" sz="1500" strike="noStrike" u="none">
                <a:solidFill>
                  <a:srgbClr val="000000"/>
                </a:solidFill>
                <a:effectLst/>
                <a:uFillTx/>
                <a:latin typeface="Arial"/>
                <a:ea typeface="Arial"/>
              </a:rPr>
              <a:t>Fakultas</a:t>
            </a:r>
            <a:endParaRPr b="0" lang="en-US" sz="1500" strike="noStrike" u="none">
              <a:solidFill>
                <a:srgbClr val="000000"/>
              </a:solidFill>
              <a:effectLst/>
              <a:uFillTx/>
              <a:latin typeface="Arial"/>
            </a:endParaRPr>
          </a:p>
        </p:txBody>
      </p:sp>
      <p:sp>
        <p:nvSpPr>
          <p:cNvPr id="69" name="TextBox 6"/>
          <p:cNvSpPr/>
          <p:nvPr/>
        </p:nvSpPr>
        <p:spPr>
          <a:xfrm>
            <a:off x="-365760" y="7208640"/>
            <a:ext cx="3931560" cy="316440"/>
          </a:xfrm>
          <a:prstGeom prst="rect">
            <a:avLst/>
          </a:prstGeom>
          <a:noFill/>
          <a:ln w="0">
            <a:noFill/>
          </a:ln>
        </p:spPr>
        <p:style>
          <a:lnRef idx="0"/>
          <a:fillRef idx="0"/>
          <a:effectRef idx="0"/>
          <a:fontRef idx="minor"/>
        </p:style>
        <p:txBody>
          <a:bodyPr lIns="0" rIns="0" tIns="0" bIns="0" anchor="t">
            <a:spAutoFit/>
          </a:bodyPr>
          <a:p>
            <a:pPr algn="r" defTabSz="914400">
              <a:lnSpc>
                <a:spcPts val="1800"/>
              </a:lnSpc>
            </a:pPr>
            <a:r>
              <a:rPr b="0" lang="en-US" sz="1500" strike="noStrike" u="none">
                <a:solidFill>
                  <a:srgbClr val="000000"/>
                </a:solidFill>
                <a:effectLst/>
                <a:uFillTx/>
                <a:latin typeface="Arial"/>
                <a:ea typeface="Arial"/>
              </a:rPr>
              <a:t>Program Studi</a:t>
            </a:r>
            <a:endParaRPr b="0" lang="en-US" sz="1500" strike="noStrike" u="none">
              <a:solidFill>
                <a:srgbClr val="000000"/>
              </a:solidFill>
              <a:effectLst/>
              <a:uFillTx/>
              <a:latin typeface="Arial"/>
            </a:endParaRPr>
          </a:p>
        </p:txBody>
      </p:sp>
      <p:sp>
        <p:nvSpPr>
          <p:cNvPr id="70" name="AutoShape 7"/>
          <p:cNvSpPr/>
          <p:nvPr/>
        </p:nvSpPr>
        <p:spPr>
          <a:xfrm>
            <a:off x="4086000" y="1681560"/>
            <a:ext cx="57240" cy="7486920"/>
          </a:xfrm>
          <a:prstGeom prst="line">
            <a:avLst/>
          </a:prstGeom>
          <a:ln cap="rnd" w="28575">
            <a:solidFill>
              <a:srgbClr val="c00000"/>
            </a:solidFill>
            <a:round/>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nvGrpSpPr>
          <p:cNvPr id="71" name="Group 8"/>
          <p:cNvGrpSpPr/>
          <p:nvPr/>
        </p:nvGrpSpPr>
        <p:grpSpPr>
          <a:xfrm>
            <a:off x="2286000" y="217440"/>
            <a:ext cx="5128920" cy="1014120"/>
            <a:chOff x="2286000" y="217440"/>
            <a:chExt cx="5128920" cy="1014120"/>
          </a:xfrm>
        </p:grpSpPr>
        <p:sp>
          <p:nvSpPr>
            <p:cNvPr id="72" name="Freeform 9"/>
            <p:cNvSpPr/>
            <p:nvPr/>
          </p:nvSpPr>
          <p:spPr>
            <a:xfrm>
              <a:off x="2286000" y="217440"/>
              <a:ext cx="5128920" cy="1014120"/>
            </a:xfrm>
            <a:custGeom>
              <a:avLst/>
              <a:gdLst>
                <a:gd name="textAreaLeft" fmla="*/ 0 w 5128920"/>
                <a:gd name="textAreaRight" fmla="*/ 5129280 w 5128920"/>
                <a:gd name="textAreaTop" fmla="*/ 0 h 1014120"/>
                <a:gd name="textAreaBottom" fmla="*/ 1014480 h 1014120"/>
              </a:gdLst>
              <a:ahLst/>
              <a:cxnLst/>
              <a:rect l="textAreaLeft" t="textAreaTop" r="textAreaRight" b="textAreaBottom"/>
              <a:pathLst>
                <a:path w="6838950" h="1352550">
                  <a:moveTo>
                    <a:pt x="0" y="0"/>
                  </a:moveTo>
                  <a:lnTo>
                    <a:pt x="6838950" y="0"/>
                  </a:lnTo>
                  <a:lnTo>
                    <a:pt x="6838950" y="1352550"/>
                  </a:lnTo>
                  <a:lnTo>
                    <a:pt x="0" y="135255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73" name="Group 10"/>
          <p:cNvGrpSpPr/>
          <p:nvPr/>
        </p:nvGrpSpPr>
        <p:grpSpPr>
          <a:xfrm>
            <a:off x="2286000" y="1318680"/>
            <a:ext cx="4200120" cy="356760"/>
            <a:chOff x="2286000" y="1318680"/>
            <a:chExt cx="4200120" cy="356760"/>
          </a:xfrm>
        </p:grpSpPr>
        <p:sp>
          <p:nvSpPr>
            <p:cNvPr id="74" name="Freeform 11"/>
            <p:cNvSpPr/>
            <p:nvPr/>
          </p:nvSpPr>
          <p:spPr>
            <a:xfrm>
              <a:off x="2286000" y="1318680"/>
              <a:ext cx="4200120" cy="356760"/>
            </a:xfrm>
            <a:custGeom>
              <a:avLst/>
              <a:gdLst>
                <a:gd name="textAreaLeft" fmla="*/ 0 w 4200120"/>
                <a:gd name="textAreaRight" fmla="*/ 4200480 w 4200120"/>
                <a:gd name="textAreaTop" fmla="*/ 0 h 356760"/>
                <a:gd name="textAreaBottom" fmla="*/ 357120 h 356760"/>
              </a:gdLst>
              <a:ahLst/>
              <a:cxnLst/>
              <a:rect l="textAreaLeft" t="textAreaTop" r="textAreaRight" b="textAreaBottom"/>
              <a:pathLst>
                <a:path w="5600700" h="476250">
                  <a:moveTo>
                    <a:pt x="0" y="0"/>
                  </a:moveTo>
                  <a:lnTo>
                    <a:pt x="5600700" y="0"/>
                  </a:lnTo>
                  <a:lnTo>
                    <a:pt x="5600700" y="476250"/>
                  </a:lnTo>
                  <a:lnTo>
                    <a:pt x="0" y="476250"/>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75" name="Group 12"/>
          <p:cNvGrpSpPr/>
          <p:nvPr/>
        </p:nvGrpSpPr>
        <p:grpSpPr>
          <a:xfrm>
            <a:off x="272160" y="23040"/>
            <a:ext cx="1803960" cy="1810080"/>
            <a:chOff x="272160" y="23040"/>
            <a:chExt cx="1803960" cy="1810080"/>
          </a:xfrm>
        </p:grpSpPr>
        <p:sp>
          <p:nvSpPr>
            <p:cNvPr id="76" name="Freeform 13"/>
            <p:cNvSpPr/>
            <p:nvPr/>
          </p:nvSpPr>
          <p:spPr>
            <a:xfrm>
              <a:off x="272160" y="23040"/>
              <a:ext cx="1803960" cy="1810080"/>
            </a:xfrm>
            <a:custGeom>
              <a:avLst/>
              <a:gdLst>
                <a:gd name="textAreaLeft" fmla="*/ 0 w 1803960"/>
                <a:gd name="textAreaRight" fmla="*/ 1804320 w 1803960"/>
                <a:gd name="textAreaTop" fmla="*/ 0 h 1810080"/>
                <a:gd name="textAreaBottom" fmla="*/ 1810440 h 1810080"/>
              </a:gdLst>
              <a:ahLst/>
              <a:cxnLst/>
              <a:rect l="textAreaLeft" t="textAreaTop" r="textAreaRight" b="textAreaBottom"/>
              <a:pathLst>
                <a:path w="2405634" h="2414016">
                  <a:moveTo>
                    <a:pt x="0" y="0"/>
                  </a:moveTo>
                  <a:lnTo>
                    <a:pt x="2405634" y="0"/>
                  </a:lnTo>
                  <a:lnTo>
                    <a:pt x="2405634" y="2414016"/>
                  </a:lnTo>
                  <a:lnTo>
                    <a:pt x="0" y="2414016"/>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77" name="TextBox 16"/>
          <p:cNvSpPr/>
          <p:nvPr/>
        </p:nvSpPr>
        <p:spPr>
          <a:xfrm>
            <a:off x="4267080" y="1700280"/>
            <a:ext cx="13410720" cy="2980440"/>
          </a:xfrm>
          <a:prstGeom prst="rect">
            <a:avLst/>
          </a:prstGeom>
          <a:noFill/>
          <a:ln w="0">
            <a:noFill/>
          </a:ln>
        </p:spPr>
        <p:style>
          <a:lnRef idx="0"/>
          <a:fillRef idx="0"/>
          <a:effectRef idx="0"/>
          <a:fontRef idx="minor"/>
        </p:style>
        <p:txBody>
          <a:bodyPr lIns="0" rIns="0" tIns="0" bIns="0" anchor="b">
            <a:noAutofit/>
          </a:bodyPr>
          <a:p>
            <a:pPr defTabSz="914400">
              <a:lnSpc>
                <a:spcPts val="3283"/>
              </a:lnSpc>
            </a:pPr>
            <a:r>
              <a:rPr b="1" lang="en-US" sz="2850" spc="-136" strike="noStrike" u="none">
                <a:solidFill>
                  <a:srgbClr val="c00000"/>
                </a:solidFill>
                <a:effectLst/>
                <a:uFillTx/>
                <a:latin typeface="Imprint MT Shadow"/>
                <a:ea typeface="Bodoni FLF"/>
              </a:rPr>
              <a:t>JUDUL TESIS : </a:t>
            </a:r>
            <a:endParaRPr b="0" lang="en-US" sz="2850" strike="noStrike" u="none">
              <a:solidFill>
                <a:srgbClr val="000000"/>
              </a:solidFill>
              <a:effectLst/>
              <a:uFillTx/>
              <a:latin typeface="Arial"/>
            </a:endParaRPr>
          </a:p>
          <a:p>
            <a:pPr defTabSz="914400">
              <a:lnSpc>
                <a:spcPts val="3283"/>
              </a:lnSpc>
            </a:pPr>
            <a:r>
              <a:rPr b="1" lang="en-US" sz="4000" spc="-136" strike="noStrike" u="none">
                <a:solidFill>
                  <a:srgbClr val="c00000"/>
                </a:solidFill>
                <a:effectLst/>
                <a:uFillTx/>
                <a:latin typeface="Bookman Old Style"/>
                <a:ea typeface="Bodoni FLF"/>
              </a:rPr>
              <a:t>PENGARUH PELATIHAN, WORK-LIFE BALANCE, DAN BEBAN KERJA TERHADAP PRODUKTIVITAS KARYAWAN DENGAN DIGITALISASI SEBAGAI VARIABEL MODERASI PADA KARYAWAN MANUFAKTUR DI KOTA TANGERANG</a:t>
            </a:r>
            <a:endParaRPr b="0" lang="en-US" sz="4000" strike="noStrike" u="none">
              <a:solidFill>
                <a:srgbClr val="000000"/>
              </a:solidFill>
              <a:effectLst/>
              <a:uFillTx/>
              <a:latin typeface="Arial"/>
            </a:endParaRPr>
          </a:p>
        </p:txBody>
      </p:sp>
      <p:sp>
        <p:nvSpPr>
          <p:cNvPr id="78" name="TextBox 17"/>
          <p:cNvSpPr/>
          <p:nvPr/>
        </p:nvSpPr>
        <p:spPr>
          <a:xfrm>
            <a:off x="4358520" y="5382720"/>
            <a:ext cx="13227840" cy="3291480"/>
          </a:xfrm>
          <a:prstGeom prst="rect">
            <a:avLst/>
          </a:prstGeom>
          <a:noFill/>
          <a:ln w="0">
            <a:noFill/>
          </a:ln>
        </p:spPr>
        <p:style>
          <a:lnRef idx="0"/>
          <a:fillRef idx="0"/>
          <a:effectRef idx="0"/>
          <a:fontRef idx="minor"/>
        </p:style>
        <p:txBody>
          <a:bodyPr lIns="0" rIns="0" tIns="0" bIns="0" anchor="t">
            <a:spAutoFit/>
          </a:bodyPr>
          <a:p>
            <a:pPr defTabSz="914400">
              <a:lnSpc>
                <a:spcPts val="4320"/>
              </a:lnSpc>
            </a:pPr>
            <a:r>
              <a:rPr b="1" lang="en-US" sz="3600" strike="noStrike" u="none">
                <a:solidFill>
                  <a:schemeClr val="dk1"/>
                </a:solidFill>
                <a:effectLst/>
                <a:uFillTx/>
                <a:latin typeface="Arial Bold"/>
                <a:ea typeface="Arial Bold"/>
              </a:rPr>
              <a:t>Nama Mahasiswa</a:t>
            </a:r>
            <a:r>
              <a:rPr b="1" lang="en-US" sz="3600" strike="noStrike" u="none">
                <a:solidFill>
                  <a:schemeClr val="dk1"/>
                </a:solidFill>
                <a:effectLst/>
                <a:uFillTx/>
                <a:latin typeface="Arial Bold"/>
                <a:ea typeface="Arial Bold"/>
              </a:rPr>
              <a:t>	</a:t>
            </a:r>
            <a:r>
              <a:rPr b="1" lang="en-US" sz="3600" strike="noStrike" u="none">
                <a:solidFill>
                  <a:schemeClr val="dk1"/>
                </a:solidFill>
                <a:effectLst/>
                <a:uFillTx/>
                <a:latin typeface="Arial Bold"/>
                <a:ea typeface="Arial Bold"/>
              </a:rPr>
              <a:t>: Virdi Gunawan</a:t>
            </a:r>
            <a:endParaRPr b="0" lang="en-US" sz="3600" strike="noStrike" u="none">
              <a:solidFill>
                <a:srgbClr val="000000"/>
              </a:solidFill>
              <a:effectLst/>
              <a:uFillTx/>
              <a:latin typeface="Arial"/>
            </a:endParaRPr>
          </a:p>
          <a:p>
            <a:pPr defTabSz="914400">
              <a:lnSpc>
                <a:spcPts val="4320"/>
              </a:lnSpc>
            </a:pPr>
            <a:r>
              <a:rPr b="1" lang="en-US" sz="3600" strike="noStrike" u="none">
                <a:solidFill>
                  <a:schemeClr val="dk1"/>
                </a:solidFill>
                <a:effectLst/>
                <a:uFillTx/>
                <a:latin typeface="Arial Bold"/>
                <a:ea typeface="Arial Bold"/>
              </a:rPr>
              <a:t>NIM </a:t>
            </a:r>
            <a:r>
              <a:rPr b="1" lang="en-US" sz="3600" strike="noStrike" u="none">
                <a:solidFill>
                  <a:schemeClr val="dk1"/>
                </a:solidFill>
                <a:effectLst/>
                <a:uFillTx/>
                <a:latin typeface="Arial Bold"/>
                <a:ea typeface="Arial Bold"/>
              </a:rPr>
              <a:t>	</a:t>
            </a:r>
            <a:r>
              <a:rPr b="1" lang="en-US" sz="3600" strike="noStrike" u="none">
                <a:solidFill>
                  <a:schemeClr val="dk1"/>
                </a:solidFill>
                <a:effectLst/>
                <a:uFillTx/>
                <a:latin typeface="Arial Bold"/>
                <a:ea typeface="Arial Bold"/>
              </a:rPr>
              <a:t>	</a:t>
            </a:r>
            <a:r>
              <a:rPr b="1" lang="en-US" sz="3600" strike="noStrike" u="none">
                <a:solidFill>
                  <a:schemeClr val="dk1"/>
                </a:solidFill>
                <a:effectLst/>
                <a:uFillTx/>
                <a:latin typeface="Arial Bold"/>
                <a:ea typeface="Arial Bold"/>
              </a:rPr>
              <a:t>	</a:t>
            </a:r>
            <a:r>
              <a:rPr b="1" lang="en-US" sz="3600" strike="noStrike" u="none">
                <a:solidFill>
                  <a:schemeClr val="dk1"/>
                </a:solidFill>
                <a:effectLst/>
                <a:uFillTx/>
                <a:latin typeface="Arial Bold"/>
                <a:ea typeface="Arial Bold"/>
              </a:rPr>
              <a:t>	</a:t>
            </a:r>
            <a:r>
              <a:rPr b="1" lang="en-US" sz="3600" strike="noStrike" u="none">
                <a:solidFill>
                  <a:schemeClr val="dk1"/>
                </a:solidFill>
                <a:effectLst/>
                <a:uFillTx/>
                <a:latin typeface="Arial Bold"/>
                <a:ea typeface="Arial Bold"/>
              </a:rPr>
              <a:t>: 20232102005</a:t>
            </a:r>
            <a:endParaRPr b="0" lang="en-US" sz="3600" strike="noStrike" u="none">
              <a:solidFill>
                <a:srgbClr val="000000"/>
              </a:solidFill>
              <a:effectLst/>
              <a:uFillTx/>
              <a:latin typeface="Arial"/>
            </a:endParaRPr>
          </a:p>
          <a:p>
            <a:pPr defTabSz="914400">
              <a:lnSpc>
                <a:spcPts val="4320"/>
              </a:lnSpc>
            </a:pPr>
            <a:r>
              <a:rPr b="1" lang="en-US" sz="3600" strike="noStrike" u="none">
                <a:solidFill>
                  <a:schemeClr val="dk1"/>
                </a:solidFill>
                <a:effectLst/>
                <a:uFillTx/>
                <a:latin typeface="Arial Bold"/>
                <a:ea typeface="Arial Bold"/>
              </a:rPr>
              <a:t>Program Studi</a:t>
            </a:r>
            <a:r>
              <a:rPr b="1" lang="en-US" sz="3600" strike="noStrike" u="none">
                <a:solidFill>
                  <a:schemeClr val="dk1"/>
                </a:solidFill>
                <a:effectLst/>
                <a:uFillTx/>
                <a:latin typeface="Arial Bold"/>
                <a:ea typeface="Arial Bold"/>
              </a:rPr>
              <a:t>	</a:t>
            </a:r>
            <a:r>
              <a:rPr b="1" lang="en-US" sz="3600" strike="noStrike" u="none">
                <a:solidFill>
                  <a:schemeClr val="dk1"/>
                </a:solidFill>
                <a:effectLst/>
                <a:uFillTx/>
                <a:latin typeface="Arial Bold"/>
                <a:ea typeface="Arial Bold"/>
              </a:rPr>
              <a:t>: Magister Manajemen</a:t>
            </a:r>
            <a:endParaRPr b="0" lang="en-US" sz="3600" strike="noStrike" u="none">
              <a:solidFill>
                <a:srgbClr val="000000"/>
              </a:solidFill>
              <a:effectLst/>
              <a:uFillTx/>
              <a:latin typeface="Arial"/>
            </a:endParaRPr>
          </a:p>
          <a:p>
            <a:pPr defTabSz="914400">
              <a:lnSpc>
                <a:spcPts val="4320"/>
              </a:lnSpc>
            </a:pPr>
            <a:r>
              <a:rPr b="1" lang="en-US" sz="3600" strike="noStrike" u="none">
                <a:solidFill>
                  <a:schemeClr val="dk1"/>
                </a:solidFill>
                <a:effectLst/>
                <a:uFillTx/>
                <a:latin typeface="Arial Bold"/>
                <a:ea typeface="Arial Bold"/>
              </a:rPr>
              <a:t>Pembimbing </a:t>
            </a:r>
            <a:r>
              <a:rPr b="1" lang="en-US" sz="3600" strike="noStrike" u="none">
                <a:solidFill>
                  <a:schemeClr val="dk1"/>
                </a:solidFill>
                <a:effectLst/>
                <a:uFillTx/>
                <a:latin typeface="Arial Bold"/>
                <a:ea typeface="Arial Bold"/>
              </a:rPr>
              <a:t>	</a:t>
            </a:r>
            <a:r>
              <a:rPr b="1" lang="en-US" sz="3600" strike="noStrike" u="none">
                <a:solidFill>
                  <a:srgbClr val="ffc000"/>
                </a:solidFill>
                <a:effectLst/>
                <a:uFillTx/>
                <a:latin typeface="Arial Bold"/>
                <a:ea typeface="Arial Bold"/>
              </a:rPr>
              <a:t>	</a:t>
            </a:r>
            <a:r>
              <a:rPr b="1" lang="en-US" sz="3600" strike="noStrike" u="none">
                <a:solidFill>
                  <a:schemeClr val="dk1"/>
                </a:solidFill>
                <a:effectLst/>
                <a:uFillTx/>
                <a:latin typeface="Arial Bold"/>
                <a:ea typeface="Arial Bold"/>
              </a:rPr>
              <a:t>:</a:t>
            </a:r>
            <a:r>
              <a:rPr b="1" lang="en-US" sz="3600" strike="noStrike" u="none">
                <a:solidFill>
                  <a:srgbClr val="ffc000"/>
                </a:solidFill>
                <a:effectLst/>
                <a:uFillTx/>
                <a:latin typeface="Arial Bold"/>
                <a:ea typeface="Arial Bold"/>
              </a:rPr>
              <a:t> </a:t>
            </a:r>
            <a:r>
              <a:rPr b="1" lang="en-US" sz="3600" strike="noStrike" u="none">
                <a:solidFill>
                  <a:schemeClr val="dk1"/>
                </a:solidFill>
                <a:effectLst/>
                <a:uFillTx/>
                <a:latin typeface="Arial Bold"/>
                <a:ea typeface="Arial Bold"/>
              </a:rPr>
              <a:t>Dr. Agustinus Privowidodo, </a:t>
            </a:r>
            <a:r>
              <a:rPr b="1" lang="en-US" sz="3600" strike="noStrike" u="none">
                <a:solidFill>
                  <a:schemeClr val="dk1"/>
                </a:solidFill>
                <a:effectLst/>
                <a:uFillTx/>
                <a:latin typeface="Arial Bold"/>
                <a:ea typeface="Arial Bold"/>
              </a:rPr>
              <a:t>	</a:t>
            </a:r>
            <a:r>
              <a:rPr b="1" lang="en-US" sz="3600" strike="noStrike" u="none">
                <a:solidFill>
                  <a:schemeClr val="dk1"/>
                </a:solidFill>
                <a:effectLst/>
                <a:uFillTx/>
                <a:latin typeface="Arial Bold"/>
                <a:ea typeface="Arial Bold"/>
              </a:rPr>
              <a:t>S.Pd., M.M.</a:t>
            </a:r>
            <a:endParaRPr b="0" lang="en-US" sz="3600" strike="noStrike" u="none">
              <a:solidFill>
                <a:srgbClr val="000000"/>
              </a:solidFill>
              <a:effectLst/>
              <a:uFillTx/>
              <a:latin typeface="Arial"/>
            </a:endParaRPr>
          </a:p>
          <a:p>
            <a:pPr defTabSz="914400">
              <a:lnSpc>
                <a:spcPts val="4320"/>
              </a:lnSpc>
            </a:pPr>
            <a:endParaRPr b="0" lang="en-US" sz="3600" strike="noStrike" u="none">
              <a:solidFill>
                <a:srgbClr val="000000"/>
              </a:solidFill>
              <a:effectLst/>
              <a:uFillTx/>
              <a:latin typeface="Arial"/>
            </a:endParaRPr>
          </a:p>
        </p:txBody>
      </p:sp>
      <p:sp>
        <p:nvSpPr>
          <p:cNvPr id="79" name="TextBox 18"/>
          <p:cNvSpPr/>
          <p:nvPr/>
        </p:nvSpPr>
        <p:spPr>
          <a:xfrm>
            <a:off x="243720" y="6170400"/>
            <a:ext cx="3322080" cy="642240"/>
          </a:xfrm>
          <a:prstGeom prst="rect">
            <a:avLst/>
          </a:prstGeom>
          <a:noFill/>
          <a:ln w="0">
            <a:noFill/>
          </a:ln>
        </p:spPr>
        <p:style>
          <a:lnRef idx="0"/>
          <a:fillRef idx="0"/>
          <a:effectRef idx="0"/>
          <a:fontRef idx="minor"/>
        </p:style>
        <p:txBody>
          <a:bodyPr lIns="0" rIns="0" tIns="0" bIns="0" anchor="t">
            <a:spAutoFit/>
          </a:bodyPr>
          <a:p>
            <a:pPr algn="r" defTabSz="914400">
              <a:lnSpc>
                <a:spcPts val="2880"/>
              </a:lnSpc>
            </a:pPr>
            <a:r>
              <a:rPr b="1" lang="en-US" sz="2400" strike="noStrike" u="none">
                <a:solidFill>
                  <a:srgbClr val="000000"/>
                </a:solidFill>
                <a:effectLst/>
                <a:uFillTx/>
                <a:latin typeface="Arial Bold"/>
                <a:ea typeface="Arial Bold"/>
              </a:rPr>
              <a:t>FAKULTAS BISNIS</a:t>
            </a:r>
            <a:endParaRPr b="0" lang="en-US" sz="2400" strike="noStrike" u="none">
              <a:solidFill>
                <a:srgbClr val="000000"/>
              </a:solidFill>
              <a:effectLst/>
              <a:uFillTx/>
              <a:latin typeface="Arial"/>
            </a:endParaRPr>
          </a:p>
        </p:txBody>
      </p:sp>
      <p:sp>
        <p:nvSpPr>
          <p:cNvPr id="80" name="TextBox 19"/>
          <p:cNvSpPr/>
          <p:nvPr/>
        </p:nvSpPr>
        <p:spPr>
          <a:xfrm>
            <a:off x="243720" y="7427520"/>
            <a:ext cx="3322080" cy="870840"/>
          </a:xfrm>
          <a:prstGeom prst="rect">
            <a:avLst/>
          </a:prstGeom>
          <a:noFill/>
          <a:ln w="0">
            <a:noFill/>
          </a:ln>
        </p:spPr>
        <p:style>
          <a:lnRef idx="0"/>
          <a:fillRef idx="0"/>
          <a:effectRef idx="0"/>
          <a:fontRef idx="minor"/>
        </p:style>
        <p:txBody>
          <a:bodyPr lIns="0" rIns="0" tIns="0" bIns="0" anchor="t">
            <a:spAutoFit/>
          </a:bodyPr>
          <a:p>
            <a:pPr algn="r" defTabSz="914400">
              <a:lnSpc>
                <a:spcPts val="2880"/>
              </a:lnSpc>
            </a:pPr>
            <a:r>
              <a:rPr b="1" lang="en-US" sz="2400" strike="noStrike" u="none">
                <a:solidFill>
                  <a:srgbClr val="000000"/>
                </a:solidFill>
                <a:effectLst/>
                <a:uFillTx/>
                <a:latin typeface="Arial Bold"/>
                <a:ea typeface="Arial Bold"/>
              </a:rPr>
              <a:t>Magister Manajemen (MM)</a:t>
            </a:r>
            <a:endParaRPr b="0" lang="en-US" sz="2400" strike="noStrike" u="none">
              <a:solidFill>
                <a:srgbClr val="000000"/>
              </a:solidFill>
              <a:effectLst/>
              <a:uFillTx/>
              <a:latin typeface="Arial"/>
            </a:endParaRPr>
          </a:p>
        </p:txBody>
      </p:sp>
      <p:grpSp>
        <p:nvGrpSpPr>
          <p:cNvPr id="81" name="Group 20"/>
          <p:cNvGrpSpPr/>
          <p:nvPr/>
        </p:nvGrpSpPr>
        <p:grpSpPr>
          <a:xfrm>
            <a:off x="797400" y="3259800"/>
            <a:ext cx="3058920" cy="1319040"/>
            <a:chOff x="797400" y="3259800"/>
            <a:chExt cx="3058920" cy="1319040"/>
          </a:xfrm>
        </p:grpSpPr>
        <p:sp>
          <p:nvSpPr>
            <p:cNvPr id="82" name="Freeform 21"/>
            <p:cNvSpPr/>
            <p:nvPr/>
          </p:nvSpPr>
          <p:spPr>
            <a:xfrm>
              <a:off x="797400" y="3288240"/>
              <a:ext cx="3058920" cy="1290600"/>
            </a:xfrm>
            <a:custGeom>
              <a:avLst/>
              <a:gdLst>
                <a:gd name="textAreaLeft" fmla="*/ 0 w 3058920"/>
                <a:gd name="textAreaRight" fmla="*/ 3059280 w 3058920"/>
                <a:gd name="textAreaTop" fmla="*/ 0 h 1290600"/>
                <a:gd name="textAreaBottom" fmla="*/ 1290960 h 1290600"/>
              </a:gdLst>
              <a:ahLst/>
              <a:cxnLst/>
              <a:rect l="textAreaLeft" t="textAreaTop" r="textAreaRight" b="textAreaBottom"/>
              <a:pathLst>
                <a:path w="4078984" h="1721068">
                  <a:moveTo>
                    <a:pt x="0" y="0"/>
                  </a:moveTo>
                  <a:lnTo>
                    <a:pt x="4078984" y="0"/>
                  </a:lnTo>
                  <a:lnTo>
                    <a:pt x="4078984" y="1721068"/>
                  </a:lnTo>
                  <a:lnTo>
                    <a:pt x="0" y="172106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83" name="Group 22"/>
            <p:cNvGrpSpPr/>
            <p:nvPr/>
          </p:nvGrpSpPr>
          <p:grpSpPr>
            <a:xfrm>
              <a:off x="797400" y="3259800"/>
              <a:ext cx="3058920" cy="1319040"/>
              <a:chOff x="797400" y="3259800"/>
              <a:chExt cx="3058920" cy="1319040"/>
            </a:xfrm>
          </p:grpSpPr>
          <p:sp>
            <p:nvSpPr>
              <p:cNvPr id="84" name="Freeform 23"/>
              <p:cNvSpPr/>
              <p:nvPr/>
            </p:nvSpPr>
            <p:spPr>
              <a:xfrm>
                <a:off x="797400" y="3288240"/>
                <a:ext cx="3058920" cy="1290600"/>
              </a:xfrm>
              <a:custGeom>
                <a:avLst/>
                <a:gdLst>
                  <a:gd name="textAreaLeft" fmla="*/ 0 w 3058920"/>
                  <a:gd name="textAreaRight" fmla="*/ 3059280 w 3058920"/>
                  <a:gd name="textAreaTop" fmla="*/ 0 h 1290600"/>
                  <a:gd name="textAreaBottom" fmla="*/ 1290960 h 1290600"/>
                </a:gdLst>
                <a:ahLst/>
                <a:cxnLst/>
                <a:rect l="textAreaLeft" t="textAreaTop" r="textAreaRight" b="textAreaBottom"/>
                <a:pathLst>
                  <a:path w="4078984" h="1721068">
                    <a:moveTo>
                      <a:pt x="0" y="0"/>
                    </a:moveTo>
                    <a:lnTo>
                      <a:pt x="4078984" y="0"/>
                    </a:lnTo>
                    <a:lnTo>
                      <a:pt x="4078984" y="1721068"/>
                    </a:lnTo>
                    <a:lnTo>
                      <a:pt x="0" y="172106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85" name="TextBox 24"/>
              <p:cNvSpPr/>
              <p:nvPr/>
            </p:nvSpPr>
            <p:spPr>
              <a:xfrm>
                <a:off x="797400" y="3259800"/>
                <a:ext cx="3058920" cy="1319040"/>
              </a:xfrm>
              <a:prstGeom prst="rect">
                <a:avLst/>
              </a:prstGeom>
              <a:noFill/>
              <a:ln w="0">
                <a:noFill/>
              </a:ln>
            </p:spPr>
            <p:style>
              <a:lnRef idx="0"/>
              <a:fillRef idx="0"/>
              <a:effectRef idx="0"/>
              <a:fontRef idx="minor"/>
            </p:style>
            <p:txBody>
              <a:bodyPr lIns="0" rIns="0" tIns="0" bIns="0" anchor="ctr">
                <a:noAutofit/>
              </a:bodyPr>
              <a:p>
                <a:pPr algn="ctr" defTabSz="914400">
                  <a:lnSpc>
                    <a:spcPts val="2341"/>
                  </a:lnSpc>
                </a:pPr>
                <a:r>
                  <a:rPr b="1" lang="en-US" sz="1950" strike="noStrike" u="none">
                    <a:solidFill>
                      <a:srgbClr val="000000"/>
                    </a:solidFill>
                    <a:effectLst/>
                    <a:uFillTx/>
                    <a:latin typeface="Arial Bold"/>
                    <a:ea typeface="Arial Bold"/>
                  </a:rPr>
                  <a:t>Sidang </a:t>
                </a:r>
                <a:endParaRPr b="0" lang="en-US" sz="1950" strike="noStrike" u="none">
                  <a:solidFill>
                    <a:srgbClr val="000000"/>
                  </a:solidFill>
                  <a:effectLst/>
                  <a:uFillTx/>
                  <a:latin typeface="Arial"/>
                </a:endParaRPr>
              </a:p>
              <a:p>
                <a:pPr algn="ctr" defTabSz="914400">
                  <a:lnSpc>
                    <a:spcPts val="2341"/>
                  </a:lnSpc>
                </a:pPr>
                <a:r>
                  <a:rPr b="1" lang="en-US" sz="1950" strike="noStrike" u="none">
                    <a:solidFill>
                      <a:srgbClr val="000000"/>
                    </a:solidFill>
                    <a:effectLst/>
                    <a:uFillTx/>
                    <a:latin typeface="Arial Bold"/>
                    <a:ea typeface="Arial Bold"/>
                  </a:rPr>
                  <a:t>Proposal Tesis </a:t>
                </a:r>
                <a:endParaRPr b="0" lang="en-US" sz="1950" strike="noStrike" u="none">
                  <a:solidFill>
                    <a:srgbClr val="000000"/>
                  </a:solidFill>
                  <a:effectLst/>
                  <a:uFillTx/>
                  <a:latin typeface="Arial"/>
                </a:endParaRPr>
              </a:p>
              <a:p>
                <a:pPr algn="ctr" defTabSz="914400">
                  <a:lnSpc>
                    <a:spcPts val="2341"/>
                  </a:lnSpc>
                </a:pPr>
                <a:r>
                  <a:rPr b="1" lang="en-US" sz="1950" strike="noStrike" u="none">
                    <a:solidFill>
                      <a:srgbClr val="000000"/>
                    </a:solidFill>
                    <a:effectLst/>
                    <a:uFillTx/>
                    <a:latin typeface="Arial Bold"/>
                    <a:ea typeface="Arial Bold"/>
                  </a:rPr>
                  <a:t>T.A. 2025/2026</a:t>
                </a:r>
                <a:endParaRPr b="0" lang="en-US" sz="1950" strike="noStrike" u="none">
                  <a:solidFill>
                    <a:srgbClr val="000000"/>
                  </a:solidFill>
                  <a:effectLst/>
                  <a:uFillTx/>
                  <a:latin typeface="Arial"/>
                </a:endParaRPr>
              </a:p>
              <a:p>
                <a:pPr algn="ctr" defTabSz="914400">
                  <a:lnSpc>
                    <a:spcPts val="2341"/>
                  </a:lnSpc>
                </a:pPr>
                <a:r>
                  <a:rPr b="1" lang="en-US" sz="1950" strike="noStrike" u="none">
                    <a:solidFill>
                      <a:srgbClr val="000000"/>
                    </a:solidFill>
                    <a:effectLst/>
                    <a:uFillTx/>
                    <a:latin typeface="Arial Bold"/>
                    <a:ea typeface="Arial Bold"/>
                  </a:rPr>
                  <a:t>Semester Genap</a:t>
                </a:r>
                <a:endParaRPr b="0" lang="en-US" sz="1950" strike="noStrike" u="none">
                  <a:solidFill>
                    <a:srgbClr val="000000"/>
                  </a:solidFill>
                  <a:effectLst/>
                  <a:uFillTx/>
                  <a:latin typeface="Arial"/>
                </a:endParaRPr>
              </a:p>
            </p:txBody>
          </p:sp>
        </p:gr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6" name="Group 2"/>
          <p:cNvGrpSpPr/>
          <p:nvPr/>
        </p:nvGrpSpPr>
        <p:grpSpPr>
          <a:xfrm>
            <a:off x="21600" y="8652240"/>
            <a:ext cx="18265680" cy="1634400"/>
            <a:chOff x="21600" y="8652240"/>
            <a:chExt cx="18265680" cy="1634400"/>
          </a:xfrm>
        </p:grpSpPr>
        <p:sp>
          <p:nvSpPr>
            <p:cNvPr id="87"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88" name="Group 4"/>
          <p:cNvGrpSpPr/>
          <p:nvPr/>
        </p:nvGrpSpPr>
        <p:grpSpPr>
          <a:xfrm>
            <a:off x="16480800" y="27360"/>
            <a:ext cx="1746000" cy="1662840"/>
            <a:chOff x="16480800" y="27360"/>
            <a:chExt cx="1746000" cy="1662840"/>
          </a:xfrm>
        </p:grpSpPr>
        <p:sp>
          <p:nvSpPr>
            <p:cNvPr id="89" name="Freeform 5"/>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90" name="AutoShape 6"/>
          <p:cNvSpPr/>
          <p:nvPr/>
        </p:nvSpPr>
        <p:spPr>
          <a:xfrm>
            <a:off x="503280" y="172116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91" name="Group 7"/>
          <p:cNvGrpSpPr/>
          <p:nvPr/>
        </p:nvGrpSpPr>
        <p:grpSpPr>
          <a:xfrm>
            <a:off x="17441640" y="9310320"/>
            <a:ext cx="702720" cy="734400"/>
            <a:chOff x="17441640" y="9310320"/>
            <a:chExt cx="702720" cy="734400"/>
          </a:xfrm>
        </p:grpSpPr>
        <p:sp>
          <p:nvSpPr>
            <p:cNvPr id="92" name="Freeform 8"/>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93" name="Freeform 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94" name="Group 10"/>
          <p:cNvGrpSpPr/>
          <p:nvPr/>
        </p:nvGrpSpPr>
        <p:grpSpPr>
          <a:xfrm>
            <a:off x="13032360" y="9413640"/>
            <a:ext cx="3756600" cy="592200"/>
            <a:chOff x="13032360" y="9413640"/>
            <a:chExt cx="3756600" cy="592200"/>
          </a:xfrm>
        </p:grpSpPr>
        <p:sp>
          <p:nvSpPr>
            <p:cNvPr id="95" name="Freeform 11"/>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96" name="TextBox 12"/>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97" name="Group 13"/>
          <p:cNvGrpSpPr/>
          <p:nvPr/>
        </p:nvGrpSpPr>
        <p:grpSpPr>
          <a:xfrm>
            <a:off x="17480520" y="9324000"/>
            <a:ext cx="615960" cy="644760"/>
            <a:chOff x="17480520" y="9324000"/>
            <a:chExt cx="615960" cy="644760"/>
          </a:xfrm>
        </p:grpSpPr>
        <p:sp>
          <p:nvSpPr>
            <p:cNvPr id="98" name="Freeform 14"/>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99" name="TextBox 15"/>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100" name="Group 16"/>
          <p:cNvGrpSpPr/>
          <p:nvPr/>
        </p:nvGrpSpPr>
        <p:grpSpPr>
          <a:xfrm>
            <a:off x="858240" y="9621360"/>
            <a:ext cx="1172520" cy="585000"/>
            <a:chOff x="858240" y="9621360"/>
            <a:chExt cx="1172520" cy="585000"/>
          </a:xfrm>
        </p:grpSpPr>
        <p:sp>
          <p:nvSpPr>
            <p:cNvPr id="101" name="Freeform 17"/>
            <p:cNvSpPr/>
            <p:nvPr/>
          </p:nvSpPr>
          <p:spPr>
            <a:xfrm>
              <a:off x="858240" y="962136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02" name="TextBox 18"/>
            <p:cNvSpPr/>
            <p:nvPr/>
          </p:nvSpPr>
          <p:spPr>
            <a:xfrm>
              <a:off x="858240" y="962136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103" name="Group 19"/>
          <p:cNvGrpSpPr/>
          <p:nvPr/>
        </p:nvGrpSpPr>
        <p:grpSpPr>
          <a:xfrm>
            <a:off x="503640" y="9540360"/>
            <a:ext cx="456840" cy="485280"/>
            <a:chOff x="503640" y="9540360"/>
            <a:chExt cx="456840" cy="485280"/>
          </a:xfrm>
        </p:grpSpPr>
        <p:sp>
          <p:nvSpPr>
            <p:cNvPr id="104" name="Freeform 20"/>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105" name="Group 21"/>
            <p:cNvGrpSpPr/>
            <p:nvPr/>
          </p:nvGrpSpPr>
          <p:grpSpPr>
            <a:xfrm>
              <a:off x="503640" y="9540360"/>
              <a:ext cx="456840" cy="485280"/>
              <a:chOff x="503640" y="9540360"/>
              <a:chExt cx="456840" cy="485280"/>
            </a:xfrm>
          </p:grpSpPr>
          <p:sp>
            <p:nvSpPr>
              <p:cNvPr id="106" name="Freeform 2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07" name="TextBox 23"/>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108" name="Group 24"/>
          <p:cNvGrpSpPr/>
          <p:nvPr/>
        </p:nvGrpSpPr>
        <p:grpSpPr>
          <a:xfrm>
            <a:off x="1989360" y="9540360"/>
            <a:ext cx="456840" cy="485280"/>
            <a:chOff x="1989360" y="9540360"/>
            <a:chExt cx="456840" cy="485280"/>
          </a:xfrm>
        </p:grpSpPr>
        <p:sp>
          <p:nvSpPr>
            <p:cNvPr id="109" name="Freeform 2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110" name="Group 26"/>
            <p:cNvGrpSpPr/>
            <p:nvPr/>
          </p:nvGrpSpPr>
          <p:grpSpPr>
            <a:xfrm>
              <a:off x="1989360" y="9540360"/>
              <a:ext cx="456840" cy="485280"/>
              <a:chOff x="1989360" y="9540360"/>
              <a:chExt cx="456840" cy="485280"/>
            </a:xfrm>
          </p:grpSpPr>
          <p:sp>
            <p:nvSpPr>
              <p:cNvPr id="111" name="Freeform 27"/>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12" name="TextBox 2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113" name="Group 29"/>
          <p:cNvGrpSpPr/>
          <p:nvPr/>
        </p:nvGrpSpPr>
        <p:grpSpPr>
          <a:xfrm>
            <a:off x="816480" y="9554760"/>
            <a:ext cx="665280" cy="471240"/>
            <a:chOff x="816480" y="9554760"/>
            <a:chExt cx="665280" cy="471240"/>
          </a:xfrm>
        </p:grpSpPr>
        <p:sp>
          <p:nvSpPr>
            <p:cNvPr id="114" name="Freeform 30"/>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115" name="Group 31"/>
            <p:cNvGrpSpPr/>
            <p:nvPr/>
          </p:nvGrpSpPr>
          <p:grpSpPr>
            <a:xfrm>
              <a:off x="816480" y="9554760"/>
              <a:ext cx="665280" cy="471240"/>
              <a:chOff x="816480" y="9554760"/>
              <a:chExt cx="665280" cy="471240"/>
            </a:xfrm>
          </p:grpSpPr>
          <p:sp>
            <p:nvSpPr>
              <p:cNvPr id="116" name="Freeform 32"/>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17" name="TextBox 33"/>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118" name="Group 34"/>
          <p:cNvGrpSpPr/>
          <p:nvPr/>
        </p:nvGrpSpPr>
        <p:grpSpPr>
          <a:xfrm>
            <a:off x="1460880" y="9554760"/>
            <a:ext cx="665280" cy="471240"/>
            <a:chOff x="1460880" y="9554760"/>
            <a:chExt cx="665280" cy="471240"/>
          </a:xfrm>
        </p:grpSpPr>
        <p:sp>
          <p:nvSpPr>
            <p:cNvPr id="119" name="Freeform 35"/>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120" name="Group 36"/>
            <p:cNvGrpSpPr/>
            <p:nvPr/>
          </p:nvGrpSpPr>
          <p:grpSpPr>
            <a:xfrm>
              <a:off x="1460880" y="9554760"/>
              <a:ext cx="665280" cy="471240"/>
              <a:chOff x="1460880" y="9554760"/>
              <a:chExt cx="665280" cy="471240"/>
            </a:xfrm>
          </p:grpSpPr>
          <p:sp>
            <p:nvSpPr>
              <p:cNvPr id="121" name="Freeform 37"/>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22" name="TextBox 38"/>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sp>
        <p:nvSpPr>
          <p:cNvPr id="123" name="TextBox 44"/>
          <p:cNvSpPr/>
          <p:nvPr/>
        </p:nvSpPr>
        <p:spPr>
          <a:xfrm>
            <a:off x="503280" y="2722680"/>
            <a:ext cx="9326520" cy="5506920"/>
          </a:xfrm>
          <a:prstGeom prst="rect">
            <a:avLst/>
          </a:prstGeom>
          <a:noFill/>
          <a:ln w="0">
            <a:noFill/>
          </a:ln>
        </p:spPr>
        <p:style>
          <a:lnRef idx="0"/>
          <a:fillRef idx="0"/>
          <a:effectRef idx="0"/>
          <a:fontRef idx="minor"/>
        </p:style>
        <p:txBody>
          <a:bodyPr lIns="0" rIns="0" tIns="0" bIns="0" anchor="t">
            <a:spAutoFit/>
          </a:bodyPr>
          <a:p>
            <a:pPr defTabSz="914400">
              <a:lnSpc>
                <a:spcPts val="3240"/>
              </a:lnSpc>
            </a:pPr>
            <a:r>
              <a:rPr b="1" lang="en-US" sz="3200" strike="noStrike" u="none">
                <a:solidFill>
                  <a:srgbClr val="000000"/>
                </a:solidFill>
                <a:effectLst/>
                <a:uFillTx/>
                <a:latin typeface="Times New Roman"/>
                <a:ea typeface="Arial Bold"/>
              </a:rPr>
              <a:t>LATAR BELAKANG</a:t>
            </a:r>
            <a:endParaRPr b="0" lang="en-US" sz="3200" strike="noStrike" u="none">
              <a:solidFill>
                <a:srgbClr val="000000"/>
              </a:solidFill>
              <a:effectLst/>
              <a:uFillTx/>
              <a:latin typeface="Arial"/>
            </a:endParaRPr>
          </a:p>
          <a:p>
            <a:pPr marL="343080" indent="-343080" defTabSz="914400">
              <a:lnSpc>
                <a:spcPct val="100000"/>
              </a:lnSpc>
              <a:spcBef>
                <a:spcPts val="1191"/>
              </a:spcBef>
              <a:spcAft>
                <a:spcPts val="992"/>
              </a:spcAft>
              <a:buClr>
                <a:srgbClr val="000000"/>
              </a:buClr>
              <a:buFont typeface="Symbol" charset="2"/>
              <a:buChar char=""/>
            </a:pPr>
            <a:r>
              <a:rPr b="0" lang="en-ID" sz="3200" strike="noStrike" u="none">
                <a:solidFill>
                  <a:schemeClr val="dk1"/>
                </a:solidFill>
                <a:effectLst/>
                <a:uFillTx/>
                <a:latin typeface="Times New Roman"/>
                <a:ea typeface="Times New Roman"/>
              </a:rPr>
              <a:t>SDM adalah aset strategis organisasi, tetapi daya saing &amp; produktivitas tenaga kerja Indonesia masih tertinggal di ASEAN.</a:t>
            </a:r>
            <a:endParaRPr b="0" lang="en-US" sz="3200" strike="noStrike" u="none">
              <a:solidFill>
                <a:srgbClr val="000000"/>
              </a:solidFill>
              <a:effectLst/>
              <a:uFillTx/>
              <a:latin typeface="Arial"/>
            </a:endParaRPr>
          </a:p>
          <a:p>
            <a:pPr marL="343080" indent="-343080" defTabSz="914400">
              <a:lnSpc>
                <a:spcPct val="100000"/>
              </a:lnSpc>
              <a:spcBef>
                <a:spcPts val="1191"/>
              </a:spcBef>
              <a:spcAft>
                <a:spcPts val="992"/>
              </a:spcAft>
              <a:buClr>
                <a:srgbClr val="000000"/>
              </a:buClr>
              <a:buFont typeface="Symbol" charset="2"/>
              <a:buChar char=""/>
            </a:pPr>
            <a:r>
              <a:rPr b="0" lang="en-ID" sz="3200" strike="noStrike" u="none">
                <a:solidFill>
                  <a:schemeClr val="dk1"/>
                </a:solidFill>
                <a:effectLst/>
                <a:uFillTx/>
                <a:latin typeface="Times New Roman"/>
                <a:ea typeface="Times New Roman"/>
              </a:rPr>
              <a:t>Terdapat kesenjangan produktivitas yang signifikan dibandingkan negara-negara tetangga seperti Malaysia &amp; Singapura.</a:t>
            </a:r>
            <a:endParaRPr b="0" lang="en-US" sz="3200" strike="noStrike" u="none">
              <a:solidFill>
                <a:srgbClr val="000000"/>
              </a:solidFill>
              <a:effectLst/>
              <a:uFillTx/>
              <a:latin typeface="Arial"/>
            </a:endParaRPr>
          </a:p>
          <a:p>
            <a:pPr marL="343080" indent="-343080" defTabSz="914400">
              <a:lnSpc>
                <a:spcPct val="100000"/>
              </a:lnSpc>
              <a:spcBef>
                <a:spcPts val="1191"/>
              </a:spcBef>
              <a:spcAft>
                <a:spcPts val="992"/>
              </a:spcAft>
              <a:buClr>
                <a:srgbClr val="000000"/>
              </a:buClr>
              <a:buFont typeface="Symbol" charset="2"/>
              <a:buChar char=""/>
            </a:pPr>
            <a:r>
              <a:rPr b="0" lang="en-ID" sz="3200" strike="noStrike" u="none">
                <a:solidFill>
                  <a:schemeClr val="dk1"/>
                </a:solidFill>
                <a:effectLst/>
                <a:uFillTx/>
                <a:latin typeface="Times New Roman"/>
                <a:ea typeface="Times New Roman"/>
              </a:rPr>
              <a:t>Transformasi digital membuka peluang besar, namun tingkat adopsi &amp; daya saing digital Indonesia masih menengah.</a:t>
            </a:r>
            <a:endParaRPr b="0" lang="en-US" sz="3200" strike="noStrike" u="none">
              <a:solidFill>
                <a:srgbClr val="000000"/>
              </a:solidFill>
              <a:effectLst/>
              <a:uFillTx/>
              <a:latin typeface="Arial"/>
            </a:endParaRPr>
          </a:p>
        </p:txBody>
      </p:sp>
      <p:sp>
        <p:nvSpPr>
          <p:cNvPr id="124" name="TextBox 44"/>
          <p:cNvSpPr/>
          <p:nvPr/>
        </p:nvSpPr>
        <p:spPr>
          <a:xfrm>
            <a:off x="469080" y="252360"/>
            <a:ext cx="15977160" cy="1164960"/>
          </a:xfrm>
          <a:prstGeom prst="rect">
            <a:avLst/>
          </a:prstGeom>
          <a:noFill/>
          <a:ln w="0">
            <a:noFill/>
          </a:ln>
        </p:spPr>
        <p:style>
          <a:lnRef idx="0"/>
          <a:fillRef idx="0"/>
          <a:effectRef idx="0"/>
          <a:fontRef idx="minor"/>
        </p:style>
        <p:txBody>
          <a:bodyPr lIns="0" rIns="0" tIns="0" bIns="0" anchor="ctr" anchorCtr="1">
            <a:noAutofit/>
          </a:bodyPr>
          <a:p>
            <a:pPr algn="ctr" defTabSz="914400">
              <a:lnSpc>
                <a:spcPts val="3283"/>
              </a:lnSpc>
            </a:pPr>
            <a:r>
              <a:rPr b="1" lang="en-US" sz="4000" spc="-136" strike="noStrike" u="none">
                <a:solidFill>
                  <a:srgbClr val="c00000"/>
                </a:solidFill>
                <a:effectLst/>
                <a:uFillTx/>
                <a:latin typeface="Bookman Old Style"/>
                <a:ea typeface="Bodoni FLF"/>
              </a:rPr>
              <a:t>PENGARUH PELATIHAN, WORK-LIFE BALANCE, DAN BEBAN KERJA TERHADAP PRODUKTIVITAS KARYAWAN DENGAN DIGITALISASI SEBAGAI VARIABEL MODERASI PADA KARYAWAN MANUFAKTUR DI KOTA TANGERANG</a:t>
            </a:r>
            <a:endParaRPr b="0" lang="en-US" sz="4000" strike="noStrike" u="none">
              <a:solidFill>
                <a:srgbClr val="000000"/>
              </a:solidFill>
              <a:effectLst/>
              <a:uFillTx/>
              <a:latin typeface="Arial"/>
            </a:endParaRPr>
          </a:p>
        </p:txBody>
      </p:sp>
      <p:pic>
        <p:nvPicPr>
          <p:cNvPr id="125" name="" descr=""/>
          <p:cNvPicPr/>
          <p:nvPr/>
        </p:nvPicPr>
        <p:blipFill>
          <a:blip r:embed="rId11"/>
          <a:stretch/>
        </p:blipFill>
        <p:spPr>
          <a:xfrm>
            <a:off x="10515600" y="2943000"/>
            <a:ext cx="7315200" cy="43722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6" name="Group 1"/>
          <p:cNvGrpSpPr/>
          <p:nvPr/>
        </p:nvGrpSpPr>
        <p:grpSpPr>
          <a:xfrm>
            <a:off x="21600" y="8652240"/>
            <a:ext cx="18265680" cy="1634400"/>
            <a:chOff x="21600" y="8652240"/>
            <a:chExt cx="18265680" cy="1634400"/>
          </a:xfrm>
        </p:grpSpPr>
        <p:sp>
          <p:nvSpPr>
            <p:cNvPr id="127" name="Freeform 1"/>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grpSp>
        <p:nvGrpSpPr>
          <p:cNvPr id="128" name="Group 9"/>
          <p:cNvGrpSpPr/>
          <p:nvPr/>
        </p:nvGrpSpPr>
        <p:grpSpPr>
          <a:xfrm>
            <a:off x="16480800" y="27360"/>
            <a:ext cx="1746000" cy="1662840"/>
            <a:chOff x="16480800" y="27360"/>
            <a:chExt cx="1746000" cy="1662840"/>
          </a:xfrm>
        </p:grpSpPr>
        <p:sp>
          <p:nvSpPr>
            <p:cNvPr id="129" name="Freeform 2"/>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sp>
        <p:nvSpPr>
          <p:cNvPr id="130" name="AutoShape 1"/>
          <p:cNvSpPr/>
          <p:nvPr/>
        </p:nvSpPr>
        <p:spPr>
          <a:xfrm>
            <a:off x="503280" y="172116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131" name="Group 15"/>
          <p:cNvGrpSpPr/>
          <p:nvPr/>
        </p:nvGrpSpPr>
        <p:grpSpPr>
          <a:xfrm>
            <a:off x="17441640" y="9310320"/>
            <a:ext cx="702720" cy="734400"/>
            <a:chOff x="17441640" y="9310320"/>
            <a:chExt cx="702720" cy="734400"/>
          </a:xfrm>
        </p:grpSpPr>
        <p:sp>
          <p:nvSpPr>
            <p:cNvPr id="132" name="Freeform 16"/>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33" name="Freeform 1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grpSp>
        <p:nvGrpSpPr>
          <p:cNvPr id="134" name="Group 18"/>
          <p:cNvGrpSpPr/>
          <p:nvPr/>
        </p:nvGrpSpPr>
        <p:grpSpPr>
          <a:xfrm>
            <a:off x="13032360" y="9413640"/>
            <a:ext cx="3756600" cy="592200"/>
            <a:chOff x="13032360" y="9413640"/>
            <a:chExt cx="3756600" cy="592200"/>
          </a:xfrm>
        </p:grpSpPr>
        <p:sp>
          <p:nvSpPr>
            <p:cNvPr id="135" name="Freeform 24"/>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36" name="TextBox 1"/>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137" name="Group 23"/>
          <p:cNvGrpSpPr/>
          <p:nvPr/>
        </p:nvGrpSpPr>
        <p:grpSpPr>
          <a:xfrm>
            <a:off x="17480520" y="9324000"/>
            <a:ext cx="615960" cy="644760"/>
            <a:chOff x="17480520" y="9324000"/>
            <a:chExt cx="615960" cy="644760"/>
          </a:xfrm>
        </p:grpSpPr>
        <p:sp>
          <p:nvSpPr>
            <p:cNvPr id="138" name="Freeform 29"/>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39" name="TextBox 2"/>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140" name="Group 28"/>
          <p:cNvGrpSpPr/>
          <p:nvPr/>
        </p:nvGrpSpPr>
        <p:grpSpPr>
          <a:xfrm>
            <a:off x="858240" y="9621360"/>
            <a:ext cx="1172520" cy="585000"/>
            <a:chOff x="858240" y="9621360"/>
            <a:chExt cx="1172520" cy="585000"/>
          </a:xfrm>
        </p:grpSpPr>
        <p:sp>
          <p:nvSpPr>
            <p:cNvPr id="141" name="Freeform 34"/>
            <p:cNvSpPr/>
            <p:nvPr/>
          </p:nvSpPr>
          <p:spPr>
            <a:xfrm>
              <a:off x="858240" y="962136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42" name="TextBox 3"/>
            <p:cNvSpPr/>
            <p:nvPr/>
          </p:nvSpPr>
          <p:spPr>
            <a:xfrm>
              <a:off x="858240" y="962136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143" name="Group 33"/>
          <p:cNvGrpSpPr/>
          <p:nvPr/>
        </p:nvGrpSpPr>
        <p:grpSpPr>
          <a:xfrm>
            <a:off x="503640" y="9540360"/>
            <a:ext cx="456840" cy="485280"/>
            <a:chOff x="503640" y="9540360"/>
            <a:chExt cx="456840" cy="485280"/>
          </a:xfrm>
        </p:grpSpPr>
        <p:sp>
          <p:nvSpPr>
            <p:cNvPr id="144" name="Freeform 39"/>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nvGrpSpPr>
            <p:cNvPr id="145" name="Group 38"/>
            <p:cNvGrpSpPr/>
            <p:nvPr/>
          </p:nvGrpSpPr>
          <p:grpSpPr>
            <a:xfrm>
              <a:off x="503640" y="9540360"/>
              <a:ext cx="456840" cy="485280"/>
              <a:chOff x="503640" y="9540360"/>
              <a:chExt cx="456840" cy="485280"/>
            </a:xfrm>
          </p:grpSpPr>
          <p:sp>
            <p:nvSpPr>
              <p:cNvPr id="146" name="Freeform 4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47" name="TextBox 7"/>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148" name="Group 40"/>
          <p:cNvGrpSpPr/>
          <p:nvPr/>
        </p:nvGrpSpPr>
        <p:grpSpPr>
          <a:xfrm>
            <a:off x="1989360" y="9540360"/>
            <a:ext cx="456840" cy="485280"/>
            <a:chOff x="1989360" y="9540360"/>
            <a:chExt cx="456840" cy="485280"/>
          </a:xfrm>
        </p:grpSpPr>
        <p:sp>
          <p:nvSpPr>
            <p:cNvPr id="149" name="Freeform 44"/>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nvGrpSpPr>
            <p:cNvPr id="150" name="Group 41"/>
            <p:cNvGrpSpPr/>
            <p:nvPr/>
          </p:nvGrpSpPr>
          <p:grpSpPr>
            <a:xfrm>
              <a:off x="1989360" y="9540360"/>
              <a:ext cx="456840" cy="485280"/>
              <a:chOff x="1989360" y="9540360"/>
              <a:chExt cx="456840" cy="485280"/>
            </a:xfrm>
          </p:grpSpPr>
          <p:sp>
            <p:nvSpPr>
              <p:cNvPr id="151" name="Freeform 4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52" name="TextBox 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153" name="Group 43"/>
          <p:cNvGrpSpPr/>
          <p:nvPr/>
        </p:nvGrpSpPr>
        <p:grpSpPr>
          <a:xfrm>
            <a:off x="816480" y="9554760"/>
            <a:ext cx="665280" cy="471240"/>
            <a:chOff x="816480" y="9554760"/>
            <a:chExt cx="665280" cy="471240"/>
          </a:xfrm>
        </p:grpSpPr>
        <p:sp>
          <p:nvSpPr>
            <p:cNvPr id="154" name="Freeform 46"/>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nvGrpSpPr>
            <p:cNvPr id="155" name="Group 44"/>
            <p:cNvGrpSpPr/>
            <p:nvPr/>
          </p:nvGrpSpPr>
          <p:grpSpPr>
            <a:xfrm>
              <a:off x="816480" y="9554760"/>
              <a:ext cx="665280" cy="471240"/>
              <a:chOff x="816480" y="9554760"/>
              <a:chExt cx="665280" cy="471240"/>
            </a:xfrm>
          </p:grpSpPr>
          <p:sp>
            <p:nvSpPr>
              <p:cNvPr id="156" name="Freeform 47"/>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57" name="TextBox 9"/>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158" name="Group 45"/>
          <p:cNvGrpSpPr/>
          <p:nvPr/>
        </p:nvGrpSpPr>
        <p:grpSpPr>
          <a:xfrm>
            <a:off x="1460880" y="9554760"/>
            <a:ext cx="665280" cy="471240"/>
            <a:chOff x="1460880" y="9554760"/>
            <a:chExt cx="665280" cy="471240"/>
          </a:xfrm>
        </p:grpSpPr>
        <p:sp>
          <p:nvSpPr>
            <p:cNvPr id="159" name="Freeform 48"/>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grpSp>
          <p:nvGrpSpPr>
            <p:cNvPr id="160" name="Group 46"/>
            <p:cNvGrpSpPr/>
            <p:nvPr/>
          </p:nvGrpSpPr>
          <p:grpSpPr>
            <a:xfrm>
              <a:off x="1460880" y="9554760"/>
              <a:ext cx="665280" cy="471240"/>
              <a:chOff x="1460880" y="9554760"/>
              <a:chExt cx="665280" cy="471240"/>
            </a:xfrm>
          </p:grpSpPr>
          <p:sp>
            <p:nvSpPr>
              <p:cNvPr id="161" name="Freeform 49"/>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endParaRPr b="0" lang="en-ID" sz="1800" strike="noStrike" u="none">
                  <a:solidFill>
                    <a:schemeClr val="dk1"/>
                  </a:solidFill>
                  <a:effectLst/>
                  <a:uFillTx/>
                  <a:latin typeface="Calibri"/>
                </a:endParaRPr>
              </a:p>
            </p:txBody>
          </p:sp>
          <p:sp>
            <p:nvSpPr>
              <p:cNvPr id="162" name="TextBox 10"/>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sp>
        <p:nvSpPr>
          <p:cNvPr id="163" name="TextBox 11"/>
          <p:cNvSpPr/>
          <p:nvPr/>
        </p:nvSpPr>
        <p:spPr>
          <a:xfrm>
            <a:off x="304920" y="1953360"/>
            <a:ext cx="17983080" cy="411840"/>
          </a:xfrm>
          <a:prstGeom prst="rect">
            <a:avLst/>
          </a:prstGeom>
          <a:noFill/>
          <a:ln w="0">
            <a:noFill/>
          </a:ln>
        </p:spPr>
        <p:style>
          <a:lnRef idx="0"/>
          <a:fillRef idx="0"/>
          <a:effectRef idx="0"/>
          <a:fontRef idx="minor"/>
        </p:style>
        <p:txBody>
          <a:bodyPr lIns="0" rIns="0" tIns="0" bIns="0" anchor="t">
            <a:spAutoFit/>
          </a:bodyPr>
          <a:p>
            <a:pPr defTabSz="914400">
              <a:lnSpc>
                <a:spcPts val="3240"/>
              </a:lnSpc>
            </a:pPr>
            <a:r>
              <a:rPr b="0" lang="en-ID" sz="3200" strike="noStrike" u="none">
                <a:solidFill>
                  <a:schemeClr val="dk1"/>
                </a:solidFill>
                <a:effectLst/>
                <a:uFillTx/>
                <a:latin typeface="Times New Roman"/>
                <a:ea typeface="Times New Roman"/>
              </a:rPr>
              <a:t>Adopsi teknologi di </a:t>
            </a:r>
            <a:r>
              <a:rPr b="0" lang="en-ID" sz="3200" strike="noStrike" u="none">
                <a:solidFill>
                  <a:schemeClr val="dk1"/>
                </a:solidFill>
                <a:effectLst/>
                <a:uFillTx/>
                <a:latin typeface="Times New Roman"/>
                <a:ea typeface="Times New Roman"/>
              </a:rPr>
              <a:t>Indonesia</a:t>
            </a:r>
            <a:endParaRPr b="0" lang="en-US" sz="3200" strike="noStrike" u="none">
              <a:solidFill>
                <a:srgbClr val="000000"/>
              </a:solidFill>
              <a:effectLst/>
              <a:uFillTx/>
              <a:latin typeface="Arial"/>
            </a:endParaRPr>
          </a:p>
        </p:txBody>
      </p:sp>
      <p:sp>
        <p:nvSpPr>
          <p:cNvPr id="164" name="TextBox 14"/>
          <p:cNvSpPr/>
          <p:nvPr/>
        </p:nvSpPr>
        <p:spPr>
          <a:xfrm>
            <a:off x="469080" y="252360"/>
            <a:ext cx="15977160" cy="1164960"/>
          </a:xfrm>
          <a:prstGeom prst="rect">
            <a:avLst/>
          </a:prstGeom>
          <a:noFill/>
          <a:ln w="0">
            <a:noFill/>
          </a:ln>
        </p:spPr>
        <p:style>
          <a:lnRef idx="0"/>
          <a:fillRef idx="0"/>
          <a:effectRef idx="0"/>
          <a:fontRef idx="minor"/>
        </p:style>
        <p:txBody>
          <a:bodyPr lIns="0" rIns="0" tIns="0" bIns="0" anchor="ctr" anchorCtr="1">
            <a:noAutofit/>
          </a:bodyPr>
          <a:p>
            <a:pPr algn="ctr" defTabSz="914400">
              <a:lnSpc>
                <a:spcPts val="3283"/>
              </a:lnSpc>
            </a:pPr>
            <a:r>
              <a:rPr b="1" lang="en-US" sz="4000" spc="-136" strike="noStrike" u="none">
                <a:solidFill>
                  <a:srgbClr val="c00000"/>
                </a:solidFill>
                <a:effectLst/>
                <a:uFillTx/>
                <a:latin typeface="Bookman Old Style"/>
                <a:ea typeface="Bodoni FLF"/>
              </a:rPr>
              <a:t>PENGARUH PELATIHAN, WORK-LIFE BALANCE, DAN BEBAN KERJA TERHADAP PRODUKTIVITAS KARYAWAN DENGAN DIGITALISASI SEBAGAI VARIABEL MODERASI PADA KARYAWAN MANUFAKTUR DI KOTA TANGERANG</a:t>
            </a:r>
            <a:endParaRPr b="0" lang="en-US" sz="4000" strike="noStrike" u="none">
              <a:solidFill>
                <a:srgbClr val="000000"/>
              </a:solidFill>
              <a:effectLst/>
              <a:uFillTx/>
              <a:latin typeface="Arial"/>
            </a:endParaRPr>
          </a:p>
        </p:txBody>
      </p:sp>
      <p:pic>
        <p:nvPicPr>
          <p:cNvPr id="165" name="" descr=""/>
          <p:cNvPicPr/>
          <p:nvPr/>
        </p:nvPicPr>
        <p:blipFill>
          <a:blip r:embed="rId11"/>
          <a:stretch/>
        </p:blipFill>
        <p:spPr>
          <a:xfrm>
            <a:off x="1828800" y="2593080"/>
            <a:ext cx="13622400" cy="65509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6" name="Group 2"/>
          <p:cNvGrpSpPr/>
          <p:nvPr/>
        </p:nvGrpSpPr>
        <p:grpSpPr>
          <a:xfrm>
            <a:off x="21600" y="8652240"/>
            <a:ext cx="18265680" cy="1634400"/>
            <a:chOff x="21600" y="8652240"/>
            <a:chExt cx="18265680" cy="1634400"/>
          </a:xfrm>
        </p:grpSpPr>
        <p:sp>
          <p:nvSpPr>
            <p:cNvPr id="167"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168" name="Group 4"/>
          <p:cNvGrpSpPr/>
          <p:nvPr/>
        </p:nvGrpSpPr>
        <p:grpSpPr>
          <a:xfrm>
            <a:off x="16480800" y="27360"/>
            <a:ext cx="1746000" cy="1662840"/>
            <a:chOff x="16480800" y="27360"/>
            <a:chExt cx="1746000" cy="1662840"/>
          </a:xfrm>
        </p:grpSpPr>
        <p:sp>
          <p:nvSpPr>
            <p:cNvPr id="169" name="Freeform 5"/>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170" name="AutoShape 6"/>
          <p:cNvSpPr/>
          <p:nvPr/>
        </p:nvSpPr>
        <p:spPr>
          <a:xfrm>
            <a:off x="675000" y="133956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171" name="Group 7"/>
          <p:cNvGrpSpPr/>
          <p:nvPr/>
        </p:nvGrpSpPr>
        <p:grpSpPr>
          <a:xfrm>
            <a:off x="17441640" y="9310320"/>
            <a:ext cx="702720" cy="734400"/>
            <a:chOff x="17441640" y="9310320"/>
            <a:chExt cx="702720" cy="734400"/>
          </a:xfrm>
        </p:grpSpPr>
        <p:sp>
          <p:nvSpPr>
            <p:cNvPr id="172" name="Freeform 8"/>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73" name="Freeform 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174" name="Group 10"/>
          <p:cNvGrpSpPr/>
          <p:nvPr/>
        </p:nvGrpSpPr>
        <p:grpSpPr>
          <a:xfrm>
            <a:off x="13032360" y="9413640"/>
            <a:ext cx="3756600" cy="592200"/>
            <a:chOff x="13032360" y="9413640"/>
            <a:chExt cx="3756600" cy="592200"/>
          </a:xfrm>
        </p:grpSpPr>
        <p:sp>
          <p:nvSpPr>
            <p:cNvPr id="175" name="Freeform 11"/>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76" name="TextBox 12"/>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177" name="Group 13"/>
          <p:cNvGrpSpPr/>
          <p:nvPr/>
        </p:nvGrpSpPr>
        <p:grpSpPr>
          <a:xfrm>
            <a:off x="17480520" y="9324000"/>
            <a:ext cx="615960" cy="644760"/>
            <a:chOff x="17480520" y="9324000"/>
            <a:chExt cx="615960" cy="644760"/>
          </a:xfrm>
        </p:grpSpPr>
        <p:sp>
          <p:nvSpPr>
            <p:cNvPr id="178" name="Freeform 14"/>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79" name="TextBox 15"/>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180" name="Group 16"/>
          <p:cNvGrpSpPr/>
          <p:nvPr/>
        </p:nvGrpSpPr>
        <p:grpSpPr>
          <a:xfrm>
            <a:off x="630720" y="9568800"/>
            <a:ext cx="1172520" cy="585000"/>
            <a:chOff x="630720" y="9568800"/>
            <a:chExt cx="1172520" cy="585000"/>
          </a:xfrm>
        </p:grpSpPr>
        <p:sp>
          <p:nvSpPr>
            <p:cNvPr id="181" name="Freeform 17"/>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82" name="TextBox 18"/>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183" name="Group 19"/>
          <p:cNvGrpSpPr/>
          <p:nvPr/>
        </p:nvGrpSpPr>
        <p:grpSpPr>
          <a:xfrm>
            <a:off x="503640" y="9540360"/>
            <a:ext cx="456840" cy="485280"/>
            <a:chOff x="503640" y="9540360"/>
            <a:chExt cx="456840" cy="485280"/>
          </a:xfrm>
        </p:grpSpPr>
        <p:sp>
          <p:nvSpPr>
            <p:cNvPr id="184" name="Freeform 20"/>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185" name="Group 21"/>
            <p:cNvGrpSpPr/>
            <p:nvPr/>
          </p:nvGrpSpPr>
          <p:grpSpPr>
            <a:xfrm>
              <a:off x="503640" y="9540360"/>
              <a:ext cx="456840" cy="485280"/>
              <a:chOff x="503640" y="9540360"/>
              <a:chExt cx="456840" cy="485280"/>
            </a:xfrm>
          </p:grpSpPr>
          <p:sp>
            <p:nvSpPr>
              <p:cNvPr id="186" name="Freeform 2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87" name="TextBox 23"/>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188" name="Group 24"/>
          <p:cNvGrpSpPr/>
          <p:nvPr/>
        </p:nvGrpSpPr>
        <p:grpSpPr>
          <a:xfrm>
            <a:off x="1989360" y="9540360"/>
            <a:ext cx="456840" cy="485280"/>
            <a:chOff x="1989360" y="9540360"/>
            <a:chExt cx="456840" cy="485280"/>
          </a:xfrm>
        </p:grpSpPr>
        <p:sp>
          <p:nvSpPr>
            <p:cNvPr id="189" name="Freeform 2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190" name="Group 26"/>
            <p:cNvGrpSpPr/>
            <p:nvPr/>
          </p:nvGrpSpPr>
          <p:grpSpPr>
            <a:xfrm>
              <a:off x="1989360" y="9540360"/>
              <a:ext cx="456840" cy="485280"/>
              <a:chOff x="1989360" y="9540360"/>
              <a:chExt cx="456840" cy="485280"/>
            </a:xfrm>
          </p:grpSpPr>
          <p:sp>
            <p:nvSpPr>
              <p:cNvPr id="191" name="Freeform 27"/>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92" name="TextBox 2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193" name="Group 29"/>
          <p:cNvGrpSpPr/>
          <p:nvPr/>
        </p:nvGrpSpPr>
        <p:grpSpPr>
          <a:xfrm>
            <a:off x="816480" y="9554760"/>
            <a:ext cx="665280" cy="471240"/>
            <a:chOff x="816480" y="9554760"/>
            <a:chExt cx="665280" cy="471240"/>
          </a:xfrm>
        </p:grpSpPr>
        <p:sp>
          <p:nvSpPr>
            <p:cNvPr id="194" name="Freeform 30"/>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195" name="Group 31"/>
            <p:cNvGrpSpPr/>
            <p:nvPr/>
          </p:nvGrpSpPr>
          <p:grpSpPr>
            <a:xfrm>
              <a:off x="816480" y="9554760"/>
              <a:ext cx="665280" cy="471240"/>
              <a:chOff x="816480" y="9554760"/>
              <a:chExt cx="665280" cy="471240"/>
            </a:xfrm>
          </p:grpSpPr>
          <p:sp>
            <p:nvSpPr>
              <p:cNvPr id="196" name="Freeform 32"/>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197" name="TextBox 33"/>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198" name="Group 34"/>
          <p:cNvGrpSpPr/>
          <p:nvPr/>
        </p:nvGrpSpPr>
        <p:grpSpPr>
          <a:xfrm>
            <a:off x="1460880" y="9554760"/>
            <a:ext cx="665280" cy="471240"/>
            <a:chOff x="1460880" y="9554760"/>
            <a:chExt cx="665280" cy="471240"/>
          </a:xfrm>
        </p:grpSpPr>
        <p:sp>
          <p:nvSpPr>
            <p:cNvPr id="199" name="Freeform 35"/>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00" name="Group 36"/>
            <p:cNvGrpSpPr/>
            <p:nvPr/>
          </p:nvGrpSpPr>
          <p:grpSpPr>
            <a:xfrm>
              <a:off x="1460880" y="9554760"/>
              <a:ext cx="665280" cy="471240"/>
              <a:chOff x="1460880" y="9554760"/>
              <a:chExt cx="665280" cy="471240"/>
            </a:xfrm>
          </p:grpSpPr>
          <p:sp>
            <p:nvSpPr>
              <p:cNvPr id="201" name="Freeform 37"/>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02" name="TextBox 38"/>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grpSp>
        <p:nvGrpSpPr>
          <p:cNvPr id="203" name="Group 39"/>
          <p:cNvGrpSpPr/>
          <p:nvPr/>
        </p:nvGrpSpPr>
        <p:grpSpPr>
          <a:xfrm>
            <a:off x="286560" y="2164680"/>
            <a:ext cx="15977160" cy="1165320"/>
            <a:chOff x="286560" y="2164680"/>
            <a:chExt cx="15977160" cy="1165320"/>
          </a:xfrm>
        </p:grpSpPr>
        <p:sp>
          <p:nvSpPr>
            <p:cNvPr id="204" name="Freeform 40"/>
            <p:cNvSpPr/>
            <p:nvPr/>
          </p:nvSpPr>
          <p:spPr>
            <a:xfrm>
              <a:off x="286560" y="223632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05" name="TextBox 41"/>
            <p:cNvSpPr/>
            <p:nvPr/>
          </p:nvSpPr>
          <p:spPr>
            <a:xfrm>
              <a:off x="286560" y="2164680"/>
              <a:ext cx="15977160" cy="1164960"/>
            </a:xfrm>
            <a:prstGeom prst="rect">
              <a:avLst/>
            </a:prstGeom>
            <a:noFill/>
            <a:ln w="0">
              <a:noFill/>
            </a:ln>
          </p:spPr>
          <p:style>
            <a:lnRef idx="0"/>
            <a:fillRef idx="0"/>
            <a:effectRef idx="0"/>
            <a:fontRef idx="minor"/>
          </p:style>
          <p:txBody>
            <a:bodyPr lIns="0" rIns="0" tIns="0" bIns="0" anchor="ctr">
              <a:noAutofit/>
            </a:bodyPr>
            <a:p>
              <a:pPr defTabSz="914400">
                <a:lnSpc>
                  <a:spcPts val="3025"/>
                </a:lnSpc>
              </a:pPr>
              <a:endParaRPr b="1" lang="en-US" sz="2100" strike="noStrike" u="none">
                <a:solidFill>
                  <a:srgbClr val="ffc000"/>
                </a:solidFill>
                <a:effectLst/>
                <a:uFillTx/>
                <a:latin typeface="Arial Bold"/>
                <a:ea typeface="Arial Bold"/>
              </a:endParaRPr>
            </a:p>
          </p:txBody>
        </p:sp>
      </p:grpSp>
      <p:sp>
        <p:nvSpPr>
          <p:cNvPr id="206" name="TextBox 43"/>
          <p:cNvSpPr/>
          <p:nvPr/>
        </p:nvSpPr>
        <p:spPr>
          <a:xfrm>
            <a:off x="6884280" y="1861920"/>
            <a:ext cx="10836000" cy="7150320"/>
          </a:xfrm>
          <a:prstGeom prst="rect">
            <a:avLst/>
          </a:prstGeom>
          <a:noFill/>
          <a:ln w="0">
            <a:noFill/>
          </a:ln>
        </p:spPr>
        <p:style>
          <a:lnRef idx="0"/>
          <a:fillRef idx="0"/>
          <a:effectRef idx="0"/>
          <a:fontRef idx="minor"/>
        </p:style>
        <p:txBody>
          <a:bodyPr lIns="0" rIns="0" tIns="0" bIns="0" anchor="t">
            <a:spAutoFit/>
          </a:bodyPr>
          <a:p>
            <a:pPr defTabSz="914400">
              <a:lnSpc>
                <a:spcPts val="4320"/>
              </a:lnSpc>
            </a:pPr>
            <a:r>
              <a:rPr b="1" lang="en-US" sz="2800" strike="noStrike" u="none">
                <a:solidFill>
                  <a:srgbClr val="000000"/>
                </a:solidFill>
                <a:effectLst/>
                <a:uFillTx/>
                <a:latin typeface="Times New Roman"/>
                <a:ea typeface="Arial"/>
              </a:rPr>
              <a:t>IDENTIFIKASI MASALAH</a:t>
            </a:r>
            <a:endParaRPr b="0" lang="en-US" sz="2800" strike="noStrike" u="none">
              <a:solidFill>
                <a:srgbClr val="000000"/>
              </a:solidFill>
              <a:effectLst/>
              <a:uFillTx/>
              <a:latin typeface="Arial"/>
            </a:endParaRPr>
          </a:p>
          <a:p>
            <a:pPr defTabSz="914400">
              <a:lnSpc>
                <a:spcPts val="4320"/>
              </a:lnSpc>
            </a:pPr>
            <a:endParaRPr b="0" lang="en-US" sz="2800" strike="noStrike" u="none">
              <a:solidFill>
                <a:srgbClr val="000000"/>
              </a:solidFill>
              <a:effectLst/>
              <a:uFillTx/>
              <a:latin typeface="Arial"/>
            </a:endParaRPr>
          </a:p>
          <a:p>
            <a:pPr marL="343080" indent="-343080" defTabSz="914400">
              <a:lnSpc>
                <a:spcPct val="100000"/>
              </a:lnSpc>
              <a:buClr>
                <a:srgbClr val="000000"/>
              </a:buClr>
              <a:buFont typeface="Calibri"/>
              <a:buAutoNum type="arabicPeriod"/>
              <a:tabLst>
                <a:tab algn="l" pos="457200"/>
              </a:tabLst>
            </a:pPr>
            <a:r>
              <a:rPr b="1" lang="en-ID" sz="2400" strike="noStrike" u="none">
                <a:solidFill>
                  <a:schemeClr val="dk1"/>
                </a:solidFill>
                <a:effectLst/>
                <a:uFillTx/>
                <a:latin typeface="Times New Roman"/>
                <a:ea typeface="Times New Roman"/>
              </a:rPr>
              <a:t>Kepuasan kerja tinggi</a:t>
            </a:r>
            <a:r>
              <a:rPr b="0" lang="en-ID" sz="2400" strike="noStrike" u="none">
                <a:solidFill>
                  <a:schemeClr val="dk1"/>
                </a:solidFill>
                <a:effectLst/>
                <a:uFillTx/>
                <a:latin typeface="Times New Roman"/>
                <a:ea typeface="Times New Roman"/>
              </a:rPr>
              <a:t> di PT Eloda Mitra berpotensi menyebabkan karyawan merasa terlalu nyaman, sehingga kurang terdorong untuk berkembang atau mencari inovasi baru.</a:t>
            </a:r>
            <a:endParaRPr b="0" lang="en-US" sz="2400" strike="noStrike" u="none">
              <a:solidFill>
                <a:srgbClr val="000000"/>
              </a:solidFill>
              <a:effectLst/>
              <a:uFillTx/>
              <a:latin typeface="Arial"/>
            </a:endParaRPr>
          </a:p>
          <a:p>
            <a:pPr marL="343080" indent="-343080" defTabSz="914400">
              <a:lnSpc>
                <a:spcPct val="100000"/>
              </a:lnSpc>
              <a:buClr>
                <a:srgbClr val="000000"/>
              </a:buClr>
              <a:buFont typeface="Calibri"/>
              <a:buAutoNum type="arabicPeriod"/>
              <a:tabLst>
                <a:tab algn="l" pos="457200"/>
              </a:tabLst>
            </a:pPr>
            <a:r>
              <a:rPr b="1" lang="en-ID" sz="2400" strike="noStrike" u="none">
                <a:solidFill>
                  <a:schemeClr val="dk1"/>
                </a:solidFill>
                <a:effectLst/>
                <a:uFillTx/>
                <a:latin typeface="Times New Roman"/>
                <a:ea typeface="Times New Roman"/>
              </a:rPr>
              <a:t>Budaya organisasi cenderung tradisional</a:t>
            </a:r>
            <a:r>
              <a:rPr b="0" lang="en-ID" sz="2400" strike="noStrike" u="none">
                <a:solidFill>
                  <a:schemeClr val="dk1"/>
                </a:solidFill>
                <a:effectLst/>
                <a:uFillTx/>
                <a:latin typeface="Times New Roman"/>
                <a:ea typeface="Times New Roman"/>
              </a:rPr>
              <a:t>, sehingga kurang menarik bagi generasi muda atau talenta baru.</a:t>
            </a:r>
            <a:endParaRPr b="0" lang="en-US" sz="2400" strike="noStrike" u="none">
              <a:solidFill>
                <a:srgbClr val="000000"/>
              </a:solidFill>
              <a:effectLst/>
              <a:uFillTx/>
              <a:latin typeface="Arial"/>
            </a:endParaRPr>
          </a:p>
          <a:p>
            <a:pPr marL="343080" indent="-343080" defTabSz="914400">
              <a:lnSpc>
                <a:spcPct val="100000"/>
              </a:lnSpc>
              <a:buClr>
                <a:srgbClr val="000000"/>
              </a:buClr>
              <a:buFont typeface="Calibri"/>
              <a:buAutoNum type="arabicPeriod"/>
              <a:tabLst>
                <a:tab algn="l" pos="457200"/>
              </a:tabLst>
            </a:pPr>
            <a:r>
              <a:rPr b="1" lang="en-ID" sz="2400" strike="noStrike" u="none">
                <a:solidFill>
                  <a:schemeClr val="dk1"/>
                </a:solidFill>
                <a:effectLst/>
                <a:uFillTx/>
                <a:latin typeface="Times New Roman"/>
                <a:ea typeface="Times New Roman"/>
              </a:rPr>
              <a:t>Motivasi kerja berfokus pada stabilitas</a:t>
            </a:r>
            <a:r>
              <a:rPr b="0" lang="en-ID" sz="2400" strike="noStrike" u="none">
                <a:solidFill>
                  <a:schemeClr val="dk1"/>
                </a:solidFill>
                <a:effectLst/>
                <a:uFillTx/>
                <a:latin typeface="Times New Roman"/>
                <a:ea typeface="Times New Roman"/>
              </a:rPr>
              <a:t> dan keamanan pekerjaan, yang bisa mengarah pada bertahan tanpa peningkatan kinerja.</a:t>
            </a:r>
            <a:endParaRPr b="0" lang="en-US" sz="2400" strike="noStrike" u="none">
              <a:solidFill>
                <a:srgbClr val="000000"/>
              </a:solidFill>
              <a:effectLst/>
              <a:uFillTx/>
              <a:latin typeface="Arial"/>
            </a:endParaRPr>
          </a:p>
          <a:p>
            <a:pPr marL="343080" indent="-343080" defTabSz="914400">
              <a:lnSpc>
                <a:spcPct val="100000"/>
              </a:lnSpc>
              <a:buClr>
                <a:srgbClr val="000000"/>
              </a:buClr>
              <a:buFont typeface="Calibri"/>
              <a:buAutoNum type="arabicPeriod"/>
              <a:tabLst>
                <a:tab algn="l" pos="457200"/>
              </a:tabLst>
            </a:pPr>
            <a:r>
              <a:rPr b="1" lang="en-ID" sz="2400" strike="noStrike" u="none">
                <a:solidFill>
                  <a:schemeClr val="dk1"/>
                </a:solidFill>
                <a:effectLst/>
                <a:uFillTx/>
                <a:latin typeface="Times New Roman"/>
                <a:ea typeface="Times New Roman"/>
              </a:rPr>
              <a:t>Kompensasi tinggi bagi karyawan senior</a:t>
            </a:r>
            <a:r>
              <a:rPr b="0" lang="en-ID" sz="2400" strike="noStrike" u="none">
                <a:solidFill>
                  <a:schemeClr val="dk1"/>
                </a:solidFill>
                <a:effectLst/>
                <a:uFillTx/>
                <a:latin typeface="Times New Roman"/>
                <a:ea typeface="Times New Roman"/>
              </a:rPr>
              <a:t> dapat memicu ketidakseimbangan alokasi anggaran, mengurangi peluang perekrutan talenta baru.</a:t>
            </a:r>
            <a:endParaRPr b="0" lang="en-US" sz="2400" strike="noStrike" u="none">
              <a:solidFill>
                <a:srgbClr val="000000"/>
              </a:solidFill>
              <a:effectLst/>
              <a:uFillTx/>
              <a:latin typeface="Arial"/>
            </a:endParaRPr>
          </a:p>
          <a:p>
            <a:pPr marL="343080" indent="-343080" defTabSz="914400">
              <a:lnSpc>
                <a:spcPct val="100000"/>
              </a:lnSpc>
              <a:buClr>
                <a:srgbClr val="000000"/>
              </a:buClr>
              <a:buFont typeface="Calibri"/>
              <a:buAutoNum type="arabicPeriod"/>
              <a:tabLst>
                <a:tab algn="l" pos="457200"/>
              </a:tabLst>
            </a:pPr>
            <a:r>
              <a:rPr b="1" lang="en-ID" sz="2400" strike="noStrike" u="none">
                <a:solidFill>
                  <a:schemeClr val="dk1"/>
                </a:solidFill>
                <a:effectLst/>
                <a:uFillTx/>
                <a:latin typeface="Times New Roman"/>
                <a:ea typeface="Times New Roman"/>
              </a:rPr>
              <a:t>Risiko regenerasi tenaga kerja</a:t>
            </a:r>
            <a:r>
              <a:rPr b="0" lang="en-ID" sz="2400" strike="noStrike" u="none">
                <a:solidFill>
                  <a:schemeClr val="dk1"/>
                </a:solidFill>
                <a:effectLst/>
                <a:uFillTx/>
                <a:latin typeface="Times New Roman"/>
                <a:ea typeface="Times New Roman"/>
              </a:rPr>
              <a:t> karena komposisi karyawan didominasi oleh mereka yang sudah lama bekerja, sehingga saat banyak yang pensiun atau keluar, perusahaan bisa kehilangan pengetahuan dan keterampilan kunci.</a:t>
            </a:r>
            <a:endParaRPr b="0" lang="en-US" sz="2400" strike="noStrike" u="none">
              <a:solidFill>
                <a:srgbClr val="000000"/>
              </a:solidFill>
              <a:effectLst/>
              <a:uFillTx/>
              <a:latin typeface="Arial"/>
            </a:endParaRPr>
          </a:p>
          <a:p>
            <a:pPr marL="343080" indent="-343080" defTabSz="914400">
              <a:lnSpc>
                <a:spcPct val="100000"/>
              </a:lnSpc>
              <a:buClr>
                <a:srgbClr val="000000"/>
              </a:buClr>
              <a:buFont typeface="Calibri"/>
              <a:buAutoNum type="arabicPeriod"/>
              <a:tabLst>
                <a:tab algn="l" pos="457200"/>
              </a:tabLst>
            </a:pPr>
            <a:r>
              <a:rPr b="1" lang="en-ID" sz="2400" strike="noStrike" u="none">
                <a:solidFill>
                  <a:schemeClr val="dk1"/>
                </a:solidFill>
                <a:effectLst/>
                <a:uFillTx/>
                <a:latin typeface="Times New Roman"/>
                <a:ea typeface="Times New Roman"/>
              </a:rPr>
              <a:t>Minimnya penelitian</a:t>
            </a:r>
            <a:r>
              <a:rPr b="0" lang="en-ID" sz="2400" strike="noStrike" u="none">
                <a:solidFill>
                  <a:schemeClr val="dk1"/>
                </a:solidFill>
                <a:effectLst/>
                <a:uFillTx/>
                <a:latin typeface="Times New Roman"/>
                <a:ea typeface="Times New Roman"/>
              </a:rPr>
              <a:t> yang menguji pengaruh kepuasan kerja, budaya organisasi, dan motivasi terhadap retensi karyawan secara simultan, dengan kompensasi sebagai variabel moderator, pada konteks perusahaan dengan retensi sangat tinggi.</a:t>
            </a:r>
            <a:endParaRPr b="0" lang="en-US" sz="2400" strike="noStrike" u="none">
              <a:solidFill>
                <a:srgbClr val="000000"/>
              </a:solidFill>
              <a:effectLst/>
              <a:uFillTx/>
              <a:latin typeface="Arial"/>
            </a:endParaRPr>
          </a:p>
          <a:p>
            <a:pPr defTabSz="914400">
              <a:lnSpc>
                <a:spcPts val="4320"/>
              </a:lnSpc>
              <a:tabLst>
                <a:tab algn="l" pos="457200"/>
              </a:tabLst>
            </a:pPr>
            <a:endParaRPr b="0" lang="en-US" sz="2800" strike="noStrike" u="none">
              <a:solidFill>
                <a:srgbClr val="000000"/>
              </a:solidFill>
              <a:effectLst/>
              <a:uFillTx/>
              <a:latin typeface="Arial"/>
            </a:endParaRPr>
          </a:p>
        </p:txBody>
      </p:sp>
      <p:sp>
        <p:nvSpPr>
          <p:cNvPr id="207" name="TextBox 44"/>
          <p:cNvSpPr/>
          <p:nvPr/>
        </p:nvSpPr>
        <p:spPr>
          <a:xfrm>
            <a:off x="847080" y="27360"/>
            <a:ext cx="15416640" cy="1757160"/>
          </a:xfrm>
          <a:prstGeom prst="rect">
            <a:avLst/>
          </a:prstGeom>
          <a:noFill/>
          <a:ln w="0">
            <a:noFill/>
          </a:ln>
        </p:spPr>
        <p:style>
          <a:lnRef idx="0"/>
          <a:fillRef idx="0"/>
          <a:effectRef idx="0"/>
          <a:fontRef idx="minor"/>
        </p:style>
        <p:txBody>
          <a:bodyPr lIns="90000" rIns="90000" tIns="45000" bIns="45000" anchor="t" anchorCtr="1">
            <a:spAutoFit/>
          </a:bodyPr>
          <a:p>
            <a:pPr algn="ctr" defTabSz="914400">
              <a:lnSpc>
                <a:spcPts val="3283"/>
              </a:lnSpc>
            </a:pPr>
            <a:r>
              <a:rPr b="1" lang="en-US" sz="4000" spc="-136" strike="noStrike" u="none">
                <a:solidFill>
                  <a:srgbClr val="c00000"/>
                </a:solidFill>
                <a:effectLst/>
                <a:uFillTx/>
                <a:latin typeface="Bookman Old Style"/>
                <a:ea typeface="Bodoni FLF"/>
              </a:rPr>
              <a:t>PENGARUH PELATIHAN, WORK-LIFE BALANCE, DAN BEBAN KERJA TERHADAP PRODUKTIVITAS KARYAWAN DENGAN DIGITALISASI SEBAGAI VARIABEL MODERASI PADA KARYAWAN MANUFAKTUR DI KOTA TANGERANG</a:t>
            </a:r>
            <a:endParaRPr b="0" lang="en-US" sz="4000" strike="noStrike" u="none">
              <a:solidFill>
                <a:srgbClr val="000000"/>
              </a:solidFill>
              <a:effectLst/>
              <a:uFillTx/>
              <a:latin typeface="Arial"/>
            </a:endParaRPr>
          </a:p>
        </p:txBody>
      </p:sp>
      <p:sp>
        <p:nvSpPr>
          <p:cNvPr id="208" name="Thought Bubble: Cloud 48"/>
          <p:cNvSpPr/>
          <p:nvPr/>
        </p:nvSpPr>
        <p:spPr>
          <a:xfrm>
            <a:off x="1793880" y="1339560"/>
            <a:ext cx="4647960" cy="1842840"/>
          </a:xfrm>
          <a:prstGeom prst="cloudCallout">
            <a:avLst>
              <a:gd name="adj1" fmla="val -7420"/>
              <a:gd name="adj2" fmla="val 98580"/>
            </a:avLst>
          </a:prstGeom>
          <a:solidFill>
            <a:schemeClr val="bg1"/>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3600" strike="noStrike" u="none">
                <a:solidFill>
                  <a:schemeClr val="dk1"/>
                </a:solidFill>
                <a:effectLst/>
                <a:uFillTx/>
                <a:latin typeface="Calibri"/>
              </a:rPr>
              <a:t>Apa aja ya masalahnya?</a:t>
            </a:r>
            <a:endParaRPr b="0" lang="en-US" sz="3600" strike="noStrike" u="none">
              <a:solidFill>
                <a:srgbClr val="000000"/>
              </a:solidFill>
              <a:effectLst/>
              <a:uFillTx/>
              <a:latin typeface="Arial"/>
            </a:endParaRPr>
          </a:p>
        </p:txBody>
      </p:sp>
      <p:pic>
        <p:nvPicPr>
          <p:cNvPr id="209" name="Picture 50" descr=""/>
          <p:cNvPicPr/>
          <p:nvPr/>
        </p:nvPicPr>
        <p:blipFill>
          <a:blip r:embed="rId11"/>
          <a:stretch/>
        </p:blipFill>
        <p:spPr>
          <a:xfrm>
            <a:off x="960840" y="4232520"/>
            <a:ext cx="5018400" cy="51991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0" name="Group 2"/>
          <p:cNvGrpSpPr/>
          <p:nvPr/>
        </p:nvGrpSpPr>
        <p:grpSpPr>
          <a:xfrm>
            <a:off x="21600" y="8652240"/>
            <a:ext cx="18265680" cy="1634400"/>
            <a:chOff x="21600" y="8652240"/>
            <a:chExt cx="18265680" cy="1634400"/>
          </a:xfrm>
        </p:grpSpPr>
        <p:sp>
          <p:nvSpPr>
            <p:cNvPr id="211"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212" name="Group 4"/>
          <p:cNvGrpSpPr/>
          <p:nvPr/>
        </p:nvGrpSpPr>
        <p:grpSpPr>
          <a:xfrm>
            <a:off x="16480800" y="27360"/>
            <a:ext cx="1746000" cy="1662840"/>
            <a:chOff x="16480800" y="27360"/>
            <a:chExt cx="1746000" cy="1662840"/>
          </a:xfrm>
        </p:grpSpPr>
        <p:sp>
          <p:nvSpPr>
            <p:cNvPr id="213" name="Freeform 5"/>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214" name="AutoShape 6"/>
          <p:cNvSpPr/>
          <p:nvPr/>
        </p:nvSpPr>
        <p:spPr>
          <a:xfrm>
            <a:off x="474840" y="128448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215" name="Group 7"/>
          <p:cNvGrpSpPr/>
          <p:nvPr/>
        </p:nvGrpSpPr>
        <p:grpSpPr>
          <a:xfrm>
            <a:off x="17441640" y="9310320"/>
            <a:ext cx="702720" cy="734400"/>
            <a:chOff x="17441640" y="9310320"/>
            <a:chExt cx="702720" cy="734400"/>
          </a:xfrm>
        </p:grpSpPr>
        <p:sp>
          <p:nvSpPr>
            <p:cNvPr id="216" name="Freeform 8"/>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17" name="Freeform 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218" name="Group 10"/>
          <p:cNvGrpSpPr/>
          <p:nvPr/>
        </p:nvGrpSpPr>
        <p:grpSpPr>
          <a:xfrm>
            <a:off x="13032360" y="9413640"/>
            <a:ext cx="3756600" cy="592200"/>
            <a:chOff x="13032360" y="9413640"/>
            <a:chExt cx="3756600" cy="592200"/>
          </a:xfrm>
        </p:grpSpPr>
        <p:sp>
          <p:nvSpPr>
            <p:cNvPr id="219" name="Freeform 11"/>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20" name="TextBox 12"/>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221" name="Group 13"/>
          <p:cNvGrpSpPr/>
          <p:nvPr/>
        </p:nvGrpSpPr>
        <p:grpSpPr>
          <a:xfrm>
            <a:off x="17480520" y="9324000"/>
            <a:ext cx="615960" cy="644760"/>
            <a:chOff x="17480520" y="9324000"/>
            <a:chExt cx="615960" cy="644760"/>
          </a:xfrm>
        </p:grpSpPr>
        <p:sp>
          <p:nvSpPr>
            <p:cNvPr id="222" name="Freeform 14"/>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23" name="TextBox 15"/>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224" name="Group 16"/>
          <p:cNvGrpSpPr/>
          <p:nvPr/>
        </p:nvGrpSpPr>
        <p:grpSpPr>
          <a:xfrm>
            <a:off x="630720" y="9568800"/>
            <a:ext cx="1172520" cy="585000"/>
            <a:chOff x="630720" y="9568800"/>
            <a:chExt cx="1172520" cy="585000"/>
          </a:xfrm>
        </p:grpSpPr>
        <p:sp>
          <p:nvSpPr>
            <p:cNvPr id="225" name="Freeform 17"/>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26" name="TextBox 18"/>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227" name="Group 19"/>
          <p:cNvGrpSpPr/>
          <p:nvPr/>
        </p:nvGrpSpPr>
        <p:grpSpPr>
          <a:xfrm>
            <a:off x="503640" y="9540360"/>
            <a:ext cx="456840" cy="485280"/>
            <a:chOff x="503640" y="9540360"/>
            <a:chExt cx="456840" cy="485280"/>
          </a:xfrm>
        </p:grpSpPr>
        <p:sp>
          <p:nvSpPr>
            <p:cNvPr id="228" name="Freeform 20"/>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29" name="Group 21"/>
            <p:cNvGrpSpPr/>
            <p:nvPr/>
          </p:nvGrpSpPr>
          <p:grpSpPr>
            <a:xfrm>
              <a:off x="503640" y="9540360"/>
              <a:ext cx="456840" cy="485280"/>
              <a:chOff x="503640" y="9540360"/>
              <a:chExt cx="456840" cy="485280"/>
            </a:xfrm>
          </p:grpSpPr>
          <p:sp>
            <p:nvSpPr>
              <p:cNvPr id="230" name="Freeform 2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31" name="TextBox 23"/>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232" name="Group 24"/>
          <p:cNvGrpSpPr/>
          <p:nvPr/>
        </p:nvGrpSpPr>
        <p:grpSpPr>
          <a:xfrm>
            <a:off x="1989360" y="9540360"/>
            <a:ext cx="456840" cy="485280"/>
            <a:chOff x="1989360" y="9540360"/>
            <a:chExt cx="456840" cy="485280"/>
          </a:xfrm>
        </p:grpSpPr>
        <p:sp>
          <p:nvSpPr>
            <p:cNvPr id="233" name="Freeform 2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34" name="Group 26"/>
            <p:cNvGrpSpPr/>
            <p:nvPr/>
          </p:nvGrpSpPr>
          <p:grpSpPr>
            <a:xfrm>
              <a:off x="1989360" y="9540360"/>
              <a:ext cx="456840" cy="485280"/>
              <a:chOff x="1989360" y="9540360"/>
              <a:chExt cx="456840" cy="485280"/>
            </a:xfrm>
          </p:grpSpPr>
          <p:sp>
            <p:nvSpPr>
              <p:cNvPr id="235" name="Freeform 27"/>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36" name="TextBox 2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237" name="Group 29"/>
          <p:cNvGrpSpPr/>
          <p:nvPr/>
        </p:nvGrpSpPr>
        <p:grpSpPr>
          <a:xfrm>
            <a:off x="816480" y="9554760"/>
            <a:ext cx="665280" cy="471240"/>
            <a:chOff x="816480" y="9554760"/>
            <a:chExt cx="665280" cy="471240"/>
          </a:xfrm>
        </p:grpSpPr>
        <p:sp>
          <p:nvSpPr>
            <p:cNvPr id="238" name="Freeform 30"/>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39" name="Group 31"/>
            <p:cNvGrpSpPr/>
            <p:nvPr/>
          </p:nvGrpSpPr>
          <p:grpSpPr>
            <a:xfrm>
              <a:off x="816480" y="9554760"/>
              <a:ext cx="665280" cy="471240"/>
              <a:chOff x="816480" y="9554760"/>
              <a:chExt cx="665280" cy="471240"/>
            </a:xfrm>
          </p:grpSpPr>
          <p:sp>
            <p:nvSpPr>
              <p:cNvPr id="240" name="Freeform 32"/>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41" name="TextBox 33"/>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242" name="Group 34"/>
          <p:cNvGrpSpPr/>
          <p:nvPr/>
        </p:nvGrpSpPr>
        <p:grpSpPr>
          <a:xfrm>
            <a:off x="1460880" y="9554760"/>
            <a:ext cx="665280" cy="471240"/>
            <a:chOff x="1460880" y="9554760"/>
            <a:chExt cx="665280" cy="471240"/>
          </a:xfrm>
        </p:grpSpPr>
        <p:sp>
          <p:nvSpPr>
            <p:cNvPr id="243" name="Freeform 35"/>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44" name="Group 36"/>
            <p:cNvGrpSpPr/>
            <p:nvPr/>
          </p:nvGrpSpPr>
          <p:grpSpPr>
            <a:xfrm>
              <a:off x="1460880" y="9554760"/>
              <a:ext cx="665280" cy="471240"/>
              <a:chOff x="1460880" y="9554760"/>
              <a:chExt cx="665280" cy="471240"/>
            </a:xfrm>
          </p:grpSpPr>
          <p:sp>
            <p:nvSpPr>
              <p:cNvPr id="245" name="Freeform 37"/>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46" name="TextBox 38"/>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grpSp>
        <p:nvGrpSpPr>
          <p:cNvPr id="247" name="Group 39"/>
          <p:cNvGrpSpPr/>
          <p:nvPr/>
        </p:nvGrpSpPr>
        <p:grpSpPr>
          <a:xfrm>
            <a:off x="503640" y="114480"/>
            <a:ext cx="15977160" cy="1164960"/>
            <a:chOff x="503640" y="114480"/>
            <a:chExt cx="15977160" cy="1164960"/>
          </a:xfrm>
        </p:grpSpPr>
        <p:sp>
          <p:nvSpPr>
            <p:cNvPr id="248" name="Freeform 40"/>
            <p:cNvSpPr/>
            <p:nvPr/>
          </p:nvSpPr>
          <p:spPr>
            <a:xfrm>
              <a:off x="503640" y="18576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49" name="TextBox 41"/>
            <p:cNvSpPr/>
            <p:nvPr/>
          </p:nvSpPr>
          <p:spPr>
            <a:xfrm>
              <a:off x="503640" y="114480"/>
              <a:ext cx="15977160" cy="1164960"/>
            </a:xfrm>
            <a:prstGeom prst="rect">
              <a:avLst/>
            </a:prstGeom>
            <a:noFill/>
            <a:ln w="0">
              <a:noFill/>
            </a:ln>
          </p:spPr>
          <p:style>
            <a:lnRef idx="0"/>
            <a:fillRef idx="0"/>
            <a:effectRef idx="0"/>
            <a:fontRef idx="minor"/>
          </p:style>
          <p:txBody>
            <a:bodyPr lIns="0" rIns="0" tIns="0" bIns="0" anchor="ctr">
              <a:noAutofit/>
            </a:bodyPr>
            <a:p>
              <a:pPr algn="ctr" defTabSz="914400">
                <a:lnSpc>
                  <a:spcPts val="3283"/>
                </a:lnSpc>
              </a:pPr>
              <a:r>
                <a:rPr b="0" lang="en-US" sz="2400" spc="-136" strike="noStrike" u="none">
                  <a:solidFill>
                    <a:srgbClr val="c00000"/>
                  </a:solidFill>
                  <a:effectLst/>
                  <a:uFillTx/>
                  <a:latin typeface="Georgia"/>
                  <a:ea typeface="Bodoni FLF"/>
                </a:rPr>
                <a:t>Pengaruh Kepuasan Kerja, Budaya Organisasi dan Motivasi Terhadap Retensi Karyawan Dengan Kompensasi Sebagai Variabel Pemoderasi</a:t>
              </a:r>
              <a:endParaRPr b="0" lang="en-US" sz="2400" strike="noStrike" u="none">
                <a:solidFill>
                  <a:srgbClr val="000000"/>
                </a:solidFill>
                <a:effectLst/>
                <a:uFillTx/>
                <a:latin typeface="Arial"/>
              </a:endParaRPr>
            </a:p>
            <a:p>
              <a:pPr algn="ctr" defTabSz="914400">
                <a:lnSpc>
                  <a:spcPts val="3283"/>
                </a:lnSpc>
              </a:pPr>
              <a:r>
                <a:rPr b="0" lang="en-US" sz="2400" spc="-136" strike="noStrike" u="none">
                  <a:solidFill>
                    <a:srgbClr val="c00000"/>
                  </a:solidFill>
                  <a:effectLst/>
                  <a:uFillTx/>
                  <a:latin typeface="Georgia"/>
                  <a:ea typeface="Bodoni FLF"/>
                </a:rPr>
                <a:t> (Studi Pada PT. Eloda Mitra)</a:t>
              </a:r>
              <a:endParaRPr b="0" lang="en-US" sz="2400" strike="noStrike" u="none">
                <a:solidFill>
                  <a:srgbClr val="000000"/>
                </a:solidFill>
                <a:effectLst/>
                <a:uFillTx/>
                <a:latin typeface="Arial"/>
              </a:endParaRPr>
            </a:p>
          </p:txBody>
        </p:sp>
      </p:grpSp>
      <p:sp>
        <p:nvSpPr>
          <p:cNvPr id="250" name="TextBox 43"/>
          <p:cNvSpPr/>
          <p:nvPr/>
        </p:nvSpPr>
        <p:spPr>
          <a:xfrm>
            <a:off x="611640" y="1728360"/>
            <a:ext cx="9783000" cy="6539400"/>
          </a:xfrm>
          <a:prstGeom prst="rect">
            <a:avLst/>
          </a:prstGeom>
          <a:noFill/>
          <a:ln w="0">
            <a:noFill/>
          </a:ln>
        </p:spPr>
        <p:style>
          <a:lnRef idx="0"/>
          <a:fillRef idx="0"/>
          <a:effectRef idx="0"/>
          <a:fontRef idx="minor"/>
        </p:style>
        <p:txBody>
          <a:bodyPr lIns="0" rIns="0" tIns="0" bIns="0" anchor="t">
            <a:spAutoFit/>
          </a:bodyPr>
          <a:p>
            <a:pPr algn="just" defTabSz="914400">
              <a:lnSpc>
                <a:spcPts val="3957"/>
              </a:lnSpc>
            </a:pPr>
            <a:r>
              <a:rPr b="1" lang="en-US" sz="2800" strike="noStrike" u="none">
                <a:solidFill>
                  <a:srgbClr val="000000"/>
                </a:solidFill>
                <a:effectLst/>
                <a:uFillTx/>
                <a:latin typeface="Abadi"/>
                <a:ea typeface="Arial"/>
              </a:rPr>
              <a:t>RUMUSAN MASALAH</a:t>
            </a:r>
            <a:endParaRPr b="0" lang="en-US" sz="2800" strike="noStrike" u="none">
              <a:solidFill>
                <a:srgbClr val="000000"/>
              </a:solidFill>
              <a:effectLst/>
              <a:uFillTx/>
              <a:latin typeface="Arial"/>
            </a:endParaRPr>
          </a:p>
          <a:p>
            <a:pPr algn="just" defTabSz="914400">
              <a:lnSpc>
                <a:spcPts val="3957"/>
              </a:lnSpc>
            </a:pPr>
            <a:endParaRPr b="0" lang="en-US" sz="28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Apakah terdapat pengaruh signifikan positif dari kepuasan kerja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Apakah terdapat pengaruh signifikan positif dari budaya organisasi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Apakah terdapat pengaruh signifikan positif dari motivasi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Apakah terdapat pengaruh signifikan positif dari kompensasi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Apakah kompensasi dapat memoderasi pengaruh signifikan dari kepuasan kerja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Apakah kompensasi dapat memoderasi pengaruh signifikan dari budaya organisasi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spcAft>
                <a:spcPts val="799"/>
              </a:spcAft>
              <a:buClr>
                <a:srgbClr val="000000"/>
              </a:buClr>
              <a:buFont typeface="Calibri"/>
              <a:buAutoNum type="arabicPeriod"/>
            </a:pPr>
            <a:r>
              <a:rPr b="0" lang="en-ID" sz="2400" strike="noStrike" u="none">
                <a:solidFill>
                  <a:schemeClr val="dk1"/>
                </a:solidFill>
                <a:effectLst/>
                <a:uFillTx/>
                <a:latin typeface="Times New Roman"/>
                <a:ea typeface="Calibri"/>
              </a:rPr>
              <a:t>Apakah kompensasi dapat memoderasi pengaruh signifikan dari motivasi terhadap retensi karyawan pada PT. Eloda Mitra?</a:t>
            </a:r>
            <a:endParaRPr b="0" lang="en-US" sz="2400" strike="noStrike" u="none">
              <a:solidFill>
                <a:srgbClr val="000000"/>
              </a:solidFill>
              <a:effectLst/>
              <a:uFillTx/>
              <a:latin typeface="Arial"/>
            </a:endParaRPr>
          </a:p>
        </p:txBody>
      </p:sp>
      <p:pic>
        <p:nvPicPr>
          <p:cNvPr id="251" name="Picture 43" descr=""/>
          <p:cNvPicPr/>
          <p:nvPr/>
        </p:nvPicPr>
        <p:blipFill>
          <a:blip r:embed="rId11"/>
          <a:stretch/>
        </p:blipFill>
        <p:spPr>
          <a:xfrm>
            <a:off x="11095200" y="2147760"/>
            <a:ext cx="6580800" cy="6119280"/>
          </a:xfrm>
          <a:prstGeom prst="rect">
            <a:avLst/>
          </a:prstGeom>
          <a:noFill/>
          <a:ln w="0">
            <a:noFill/>
          </a:ln>
          <a:effectLst>
            <a:softEdge rad="112680"/>
          </a:effectLst>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2" name="Group 2"/>
          <p:cNvGrpSpPr/>
          <p:nvPr/>
        </p:nvGrpSpPr>
        <p:grpSpPr>
          <a:xfrm>
            <a:off x="21600" y="8652240"/>
            <a:ext cx="18265680" cy="1634400"/>
            <a:chOff x="21600" y="8652240"/>
            <a:chExt cx="18265680" cy="1634400"/>
          </a:xfrm>
        </p:grpSpPr>
        <p:sp>
          <p:nvSpPr>
            <p:cNvPr id="253"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254" name="Group 4"/>
          <p:cNvGrpSpPr/>
          <p:nvPr/>
        </p:nvGrpSpPr>
        <p:grpSpPr>
          <a:xfrm>
            <a:off x="16480800" y="27360"/>
            <a:ext cx="1746000" cy="1662840"/>
            <a:chOff x="16480800" y="27360"/>
            <a:chExt cx="1746000" cy="1662840"/>
          </a:xfrm>
        </p:grpSpPr>
        <p:sp>
          <p:nvSpPr>
            <p:cNvPr id="255" name="Freeform 5"/>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256" name="AutoShape 6"/>
          <p:cNvSpPr/>
          <p:nvPr/>
        </p:nvSpPr>
        <p:spPr>
          <a:xfrm>
            <a:off x="474840" y="128448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257" name="Group 7"/>
          <p:cNvGrpSpPr/>
          <p:nvPr/>
        </p:nvGrpSpPr>
        <p:grpSpPr>
          <a:xfrm>
            <a:off x="17441640" y="9310320"/>
            <a:ext cx="702720" cy="734400"/>
            <a:chOff x="17441640" y="9310320"/>
            <a:chExt cx="702720" cy="734400"/>
          </a:xfrm>
        </p:grpSpPr>
        <p:sp>
          <p:nvSpPr>
            <p:cNvPr id="258" name="Freeform 8"/>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59" name="Freeform 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260" name="Group 10"/>
          <p:cNvGrpSpPr/>
          <p:nvPr/>
        </p:nvGrpSpPr>
        <p:grpSpPr>
          <a:xfrm>
            <a:off x="13032360" y="9413640"/>
            <a:ext cx="3756600" cy="592200"/>
            <a:chOff x="13032360" y="9413640"/>
            <a:chExt cx="3756600" cy="592200"/>
          </a:xfrm>
        </p:grpSpPr>
        <p:sp>
          <p:nvSpPr>
            <p:cNvPr id="261" name="Freeform 11"/>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62" name="TextBox 12"/>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263" name="Group 13"/>
          <p:cNvGrpSpPr/>
          <p:nvPr/>
        </p:nvGrpSpPr>
        <p:grpSpPr>
          <a:xfrm>
            <a:off x="17480520" y="9324000"/>
            <a:ext cx="615960" cy="644760"/>
            <a:chOff x="17480520" y="9324000"/>
            <a:chExt cx="615960" cy="644760"/>
          </a:xfrm>
        </p:grpSpPr>
        <p:sp>
          <p:nvSpPr>
            <p:cNvPr id="264" name="Freeform 14"/>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65" name="TextBox 15"/>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266" name="Group 16"/>
          <p:cNvGrpSpPr/>
          <p:nvPr/>
        </p:nvGrpSpPr>
        <p:grpSpPr>
          <a:xfrm>
            <a:off x="630720" y="9568800"/>
            <a:ext cx="1172520" cy="585000"/>
            <a:chOff x="630720" y="9568800"/>
            <a:chExt cx="1172520" cy="585000"/>
          </a:xfrm>
        </p:grpSpPr>
        <p:sp>
          <p:nvSpPr>
            <p:cNvPr id="267" name="Freeform 17"/>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68" name="TextBox 18"/>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269" name="Group 19"/>
          <p:cNvGrpSpPr/>
          <p:nvPr/>
        </p:nvGrpSpPr>
        <p:grpSpPr>
          <a:xfrm>
            <a:off x="503640" y="9540360"/>
            <a:ext cx="456840" cy="485280"/>
            <a:chOff x="503640" y="9540360"/>
            <a:chExt cx="456840" cy="485280"/>
          </a:xfrm>
        </p:grpSpPr>
        <p:sp>
          <p:nvSpPr>
            <p:cNvPr id="270" name="Freeform 20"/>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71" name="Group 21"/>
            <p:cNvGrpSpPr/>
            <p:nvPr/>
          </p:nvGrpSpPr>
          <p:grpSpPr>
            <a:xfrm>
              <a:off x="503640" y="9540360"/>
              <a:ext cx="456840" cy="485280"/>
              <a:chOff x="503640" y="9540360"/>
              <a:chExt cx="456840" cy="485280"/>
            </a:xfrm>
          </p:grpSpPr>
          <p:sp>
            <p:nvSpPr>
              <p:cNvPr id="272" name="Freeform 2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73" name="TextBox 23"/>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274" name="Group 24"/>
          <p:cNvGrpSpPr/>
          <p:nvPr/>
        </p:nvGrpSpPr>
        <p:grpSpPr>
          <a:xfrm>
            <a:off x="1989360" y="9540360"/>
            <a:ext cx="456840" cy="485280"/>
            <a:chOff x="1989360" y="9540360"/>
            <a:chExt cx="456840" cy="485280"/>
          </a:xfrm>
        </p:grpSpPr>
        <p:sp>
          <p:nvSpPr>
            <p:cNvPr id="275" name="Freeform 2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76" name="Group 26"/>
            <p:cNvGrpSpPr/>
            <p:nvPr/>
          </p:nvGrpSpPr>
          <p:grpSpPr>
            <a:xfrm>
              <a:off x="1989360" y="9540360"/>
              <a:ext cx="456840" cy="485280"/>
              <a:chOff x="1989360" y="9540360"/>
              <a:chExt cx="456840" cy="485280"/>
            </a:xfrm>
          </p:grpSpPr>
          <p:sp>
            <p:nvSpPr>
              <p:cNvPr id="277" name="Freeform 27"/>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78" name="TextBox 2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279" name="Group 29"/>
          <p:cNvGrpSpPr/>
          <p:nvPr/>
        </p:nvGrpSpPr>
        <p:grpSpPr>
          <a:xfrm>
            <a:off x="816480" y="9554760"/>
            <a:ext cx="665280" cy="471240"/>
            <a:chOff x="816480" y="9554760"/>
            <a:chExt cx="665280" cy="471240"/>
          </a:xfrm>
        </p:grpSpPr>
        <p:sp>
          <p:nvSpPr>
            <p:cNvPr id="280" name="Freeform 30"/>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81" name="Group 31"/>
            <p:cNvGrpSpPr/>
            <p:nvPr/>
          </p:nvGrpSpPr>
          <p:grpSpPr>
            <a:xfrm>
              <a:off x="816480" y="9554760"/>
              <a:ext cx="665280" cy="471240"/>
              <a:chOff x="816480" y="9554760"/>
              <a:chExt cx="665280" cy="471240"/>
            </a:xfrm>
          </p:grpSpPr>
          <p:sp>
            <p:nvSpPr>
              <p:cNvPr id="282" name="Freeform 32"/>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83" name="TextBox 33"/>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284" name="Group 34"/>
          <p:cNvGrpSpPr/>
          <p:nvPr/>
        </p:nvGrpSpPr>
        <p:grpSpPr>
          <a:xfrm>
            <a:off x="1460880" y="9554760"/>
            <a:ext cx="665280" cy="471240"/>
            <a:chOff x="1460880" y="9554760"/>
            <a:chExt cx="665280" cy="471240"/>
          </a:xfrm>
        </p:grpSpPr>
        <p:sp>
          <p:nvSpPr>
            <p:cNvPr id="285" name="Freeform 35"/>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286" name="Group 36"/>
            <p:cNvGrpSpPr/>
            <p:nvPr/>
          </p:nvGrpSpPr>
          <p:grpSpPr>
            <a:xfrm>
              <a:off x="1460880" y="9554760"/>
              <a:ext cx="665280" cy="471240"/>
              <a:chOff x="1460880" y="9554760"/>
              <a:chExt cx="665280" cy="471240"/>
            </a:xfrm>
          </p:grpSpPr>
          <p:sp>
            <p:nvSpPr>
              <p:cNvPr id="287" name="Freeform 37"/>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88" name="TextBox 38"/>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sp>
        <p:nvSpPr>
          <p:cNvPr id="289" name="Freeform 40"/>
          <p:cNvSpPr/>
          <p:nvPr/>
        </p:nvSpPr>
        <p:spPr>
          <a:xfrm>
            <a:off x="502560" y="228600"/>
            <a:ext cx="15144480" cy="1092600"/>
          </a:xfrm>
          <a:custGeom>
            <a:avLst/>
            <a:gdLst>
              <a:gd name="textAreaLeft" fmla="*/ 0 w 15144480"/>
              <a:gd name="textAreaRight" fmla="*/ 15144840 w 15144480"/>
              <a:gd name="textAreaTop" fmla="*/ 0 h 1092600"/>
              <a:gd name="textAreaBottom" fmla="*/ 1092960 h 1092600"/>
            </a:gdLst>
            <a:ahLst/>
            <a:cxnLst/>
            <a:rect l="textAreaLeft" t="textAreaTop" r="textAreaRight" b="textAreaBottom"/>
            <a:pathLst>
              <a:path w="20193000" h="1457326">
                <a:moveTo>
                  <a:pt x="0" y="0"/>
                </a:moveTo>
                <a:lnTo>
                  <a:pt x="20193000" y="0"/>
                </a:lnTo>
                <a:lnTo>
                  <a:pt x="20193000" y="1457326"/>
                </a:lnTo>
                <a:lnTo>
                  <a:pt x="0" y="1457326"/>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90" name="TextBox 43"/>
          <p:cNvSpPr/>
          <p:nvPr/>
        </p:nvSpPr>
        <p:spPr>
          <a:xfrm>
            <a:off x="618840" y="2110320"/>
            <a:ext cx="9210600" cy="6180120"/>
          </a:xfrm>
          <a:prstGeom prst="rect">
            <a:avLst/>
          </a:prstGeom>
          <a:noFill/>
          <a:ln w="0">
            <a:noFill/>
          </a:ln>
        </p:spPr>
        <p:style>
          <a:lnRef idx="0"/>
          <a:fillRef idx="0"/>
          <a:effectRef idx="0"/>
          <a:fontRef idx="minor"/>
        </p:style>
        <p:txBody>
          <a:bodyPr lIns="0" rIns="0" tIns="0" bIns="0" anchor="t">
            <a:spAutoFit/>
          </a:bodyPr>
          <a:p>
            <a:pPr algn="just" defTabSz="914400">
              <a:lnSpc>
                <a:spcPts val="2591"/>
              </a:lnSpc>
            </a:pPr>
            <a:r>
              <a:rPr b="1" lang="en-US" sz="2400" strike="noStrike" u="none">
                <a:solidFill>
                  <a:srgbClr val="000000"/>
                </a:solidFill>
                <a:effectLst/>
                <a:uFillTx/>
                <a:latin typeface="Times New Roman"/>
                <a:ea typeface="Arial"/>
              </a:rPr>
              <a:t>TUJUAN PENELITIAN  :</a:t>
            </a:r>
            <a:endParaRPr b="0" lang="en-US" sz="2400" strike="noStrike" u="none">
              <a:solidFill>
                <a:srgbClr val="000000"/>
              </a:solidFill>
              <a:effectLst/>
              <a:uFillTx/>
              <a:latin typeface="Arial"/>
            </a:endParaRPr>
          </a:p>
          <a:p>
            <a:pPr algn="just" defTabSz="914400">
              <a:lnSpc>
                <a:spcPts val="2591"/>
              </a:lnSpc>
            </a:pP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Untuk mengetahui pengaruh signifikan positif dari kepuasan kerja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Untuk mengetahui pengaruh signifikan positif dari budaya organisasi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Untuk mengetahui pengaruh signifikan positif dari motivasi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Untuk mengetahui pengaruh signifikan positif dari kompensasi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Untuk mengetahui kompensasi dapat memoderasi pengaruh signifikan dari kepuasan kerja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Times New Roman"/>
                <a:ea typeface="Calibri"/>
              </a:rPr>
              <a:t>Untuk mengetahui kompensasi dapat memoderasi pengaruh signifikan dari budaya oganisasi terhadap retensi karyawan pada PT. Eloda Mitra.</a:t>
            </a:r>
            <a:endParaRPr b="0" lang="en-US" sz="2400" strike="noStrike" u="none">
              <a:solidFill>
                <a:srgbClr val="000000"/>
              </a:solidFill>
              <a:effectLst/>
              <a:uFillTx/>
              <a:latin typeface="Arial"/>
            </a:endParaRPr>
          </a:p>
          <a:p>
            <a:pPr marL="343080" indent="-343080" algn="just" defTabSz="914400">
              <a:lnSpc>
                <a:spcPct val="107000"/>
              </a:lnSpc>
              <a:spcAft>
                <a:spcPts val="799"/>
              </a:spcAft>
              <a:buClr>
                <a:srgbClr val="000000"/>
              </a:buClr>
              <a:buFont typeface="Calibri"/>
              <a:buAutoNum type="arabicPeriod"/>
            </a:pPr>
            <a:r>
              <a:rPr b="0" lang="en-ID" sz="2400" strike="noStrike" u="none">
                <a:solidFill>
                  <a:schemeClr val="dk1"/>
                </a:solidFill>
                <a:effectLst/>
                <a:uFillTx/>
                <a:latin typeface="Times New Roman"/>
                <a:ea typeface="Calibri"/>
              </a:rPr>
              <a:t>Untuk mengetahui kompensasi dapat memoderasi pengaruh signifikan dari motivasi terhadap retensi karyawan pada PT. Eloda Mitra.</a:t>
            </a:r>
            <a:endParaRPr b="0" lang="en-US" sz="2400" strike="noStrike" u="none">
              <a:solidFill>
                <a:srgbClr val="000000"/>
              </a:solidFill>
              <a:effectLst/>
              <a:uFillTx/>
              <a:latin typeface="Arial"/>
            </a:endParaRPr>
          </a:p>
        </p:txBody>
      </p:sp>
      <p:grpSp>
        <p:nvGrpSpPr>
          <p:cNvPr id="291" name="Group 42"/>
          <p:cNvGrpSpPr/>
          <p:nvPr/>
        </p:nvGrpSpPr>
        <p:grpSpPr>
          <a:xfrm>
            <a:off x="503640" y="114480"/>
            <a:ext cx="15977160" cy="1164960"/>
            <a:chOff x="503640" y="114480"/>
            <a:chExt cx="15977160" cy="1164960"/>
          </a:xfrm>
        </p:grpSpPr>
        <p:sp>
          <p:nvSpPr>
            <p:cNvPr id="292" name="Freeform 43"/>
            <p:cNvSpPr/>
            <p:nvPr/>
          </p:nvSpPr>
          <p:spPr>
            <a:xfrm>
              <a:off x="503640" y="18576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293" name="TextBox 44"/>
            <p:cNvSpPr/>
            <p:nvPr/>
          </p:nvSpPr>
          <p:spPr>
            <a:xfrm>
              <a:off x="503640" y="114480"/>
              <a:ext cx="15977160" cy="1164960"/>
            </a:xfrm>
            <a:prstGeom prst="rect">
              <a:avLst/>
            </a:prstGeom>
            <a:noFill/>
            <a:ln w="0">
              <a:noFill/>
            </a:ln>
          </p:spPr>
          <p:style>
            <a:lnRef idx="0"/>
            <a:fillRef idx="0"/>
            <a:effectRef idx="0"/>
            <a:fontRef idx="minor"/>
          </p:style>
          <p:txBody>
            <a:bodyPr lIns="0" rIns="0" tIns="0" bIns="0" anchor="ctr">
              <a:noAutofit/>
            </a:bodyPr>
            <a:p>
              <a:pPr algn="ctr" defTabSz="914400">
                <a:lnSpc>
                  <a:spcPts val="3283"/>
                </a:lnSpc>
              </a:pPr>
              <a:r>
                <a:rPr b="0" lang="en-US" sz="2400" spc="-136" strike="noStrike" u="none">
                  <a:solidFill>
                    <a:srgbClr val="c00000"/>
                  </a:solidFill>
                  <a:effectLst/>
                  <a:uFillTx/>
                  <a:latin typeface="Georgia"/>
                  <a:ea typeface="Bodoni FLF"/>
                </a:rPr>
                <a:t>Pengaruh Kepuasan Kerja, Budaya Organisasi dan Motivasi Terhadap Retensi Karyawan Dengan Kompensasi Sebagai Variabel Pemoderasi</a:t>
              </a:r>
              <a:endParaRPr b="0" lang="en-US" sz="2400" strike="noStrike" u="none">
                <a:solidFill>
                  <a:srgbClr val="000000"/>
                </a:solidFill>
                <a:effectLst/>
                <a:uFillTx/>
                <a:latin typeface="Arial"/>
              </a:endParaRPr>
            </a:p>
            <a:p>
              <a:pPr algn="ctr" defTabSz="914400">
                <a:lnSpc>
                  <a:spcPts val="3283"/>
                </a:lnSpc>
              </a:pPr>
              <a:r>
                <a:rPr b="0" lang="en-US" sz="2400" spc="-136" strike="noStrike" u="none">
                  <a:solidFill>
                    <a:srgbClr val="c00000"/>
                  </a:solidFill>
                  <a:effectLst/>
                  <a:uFillTx/>
                  <a:latin typeface="Georgia"/>
                  <a:ea typeface="Bodoni FLF"/>
                </a:rPr>
                <a:t> (Studi Pada PT. Eloda Mitra)</a:t>
              </a:r>
              <a:endParaRPr b="0" lang="en-US" sz="2400" strike="noStrike" u="none">
                <a:solidFill>
                  <a:srgbClr val="000000"/>
                </a:solidFill>
                <a:effectLst/>
                <a:uFillTx/>
                <a:latin typeface="Arial"/>
              </a:endParaRPr>
            </a:p>
          </p:txBody>
        </p:sp>
      </p:grpSp>
      <p:sp>
        <p:nvSpPr>
          <p:cNvPr id="294" name="Picture 41"/>
          <p:cNvSpPr/>
          <p:nvPr/>
        </p:nvSpPr>
        <p:spPr>
          <a:xfrm>
            <a:off x="10896480" y="1976400"/>
            <a:ext cx="7018560" cy="5605200"/>
          </a:xfrm>
          <a:prstGeom prst="roundRect">
            <a:avLst>
              <a:gd name="adj" fmla="val 8594"/>
            </a:avLst>
          </a:prstGeom>
          <a:blipFill rotWithShape="0">
            <a:blip r:embed="rId11"/>
            <a:srcRect/>
            <a:stretch/>
          </a:blipFill>
          <a:ln w="0">
            <a:noFill/>
          </a:ln>
          <a:effectLst>
            <a:reflection algn="bl" blurRad="12700" dir="5400000" dist="5000" endPos="28000" rotWithShape="0" stA="38000" sy="-100000"/>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95" name="Group 2"/>
          <p:cNvGrpSpPr/>
          <p:nvPr/>
        </p:nvGrpSpPr>
        <p:grpSpPr>
          <a:xfrm>
            <a:off x="21600" y="8652240"/>
            <a:ext cx="18265680" cy="1634400"/>
            <a:chOff x="21600" y="8652240"/>
            <a:chExt cx="18265680" cy="1634400"/>
          </a:xfrm>
        </p:grpSpPr>
        <p:sp>
          <p:nvSpPr>
            <p:cNvPr id="296"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297" name="Group 4"/>
          <p:cNvGrpSpPr/>
          <p:nvPr/>
        </p:nvGrpSpPr>
        <p:grpSpPr>
          <a:xfrm>
            <a:off x="16480800" y="27360"/>
            <a:ext cx="1746000" cy="1662840"/>
            <a:chOff x="16480800" y="27360"/>
            <a:chExt cx="1746000" cy="1662840"/>
          </a:xfrm>
        </p:grpSpPr>
        <p:sp>
          <p:nvSpPr>
            <p:cNvPr id="298" name="Freeform 5"/>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299" name="AutoShape 6"/>
          <p:cNvSpPr/>
          <p:nvPr/>
        </p:nvSpPr>
        <p:spPr>
          <a:xfrm>
            <a:off x="474840" y="128448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300" name="Group 7"/>
          <p:cNvGrpSpPr/>
          <p:nvPr/>
        </p:nvGrpSpPr>
        <p:grpSpPr>
          <a:xfrm>
            <a:off x="17441640" y="9310320"/>
            <a:ext cx="702720" cy="734400"/>
            <a:chOff x="17441640" y="9310320"/>
            <a:chExt cx="702720" cy="734400"/>
          </a:xfrm>
        </p:grpSpPr>
        <p:sp>
          <p:nvSpPr>
            <p:cNvPr id="301" name="Freeform 8"/>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02" name="Freeform 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303" name="Group 10"/>
          <p:cNvGrpSpPr/>
          <p:nvPr/>
        </p:nvGrpSpPr>
        <p:grpSpPr>
          <a:xfrm>
            <a:off x="13032360" y="9413640"/>
            <a:ext cx="3756600" cy="592200"/>
            <a:chOff x="13032360" y="9413640"/>
            <a:chExt cx="3756600" cy="592200"/>
          </a:xfrm>
        </p:grpSpPr>
        <p:sp>
          <p:nvSpPr>
            <p:cNvPr id="304" name="Freeform 11"/>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05" name="TextBox 12"/>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306" name="Group 13"/>
          <p:cNvGrpSpPr/>
          <p:nvPr/>
        </p:nvGrpSpPr>
        <p:grpSpPr>
          <a:xfrm>
            <a:off x="17480520" y="9324000"/>
            <a:ext cx="615960" cy="644760"/>
            <a:chOff x="17480520" y="9324000"/>
            <a:chExt cx="615960" cy="644760"/>
          </a:xfrm>
        </p:grpSpPr>
        <p:sp>
          <p:nvSpPr>
            <p:cNvPr id="307" name="Freeform 14"/>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08" name="TextBox 15"/>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309" name="Group 16"/>
          <p:cNvGrpSpPr/>
          <p:nvPr/>
        </p:nvGrpSpPr>
        <p:grpSpPr>
          <a:xfrm>
            <a:off x="630720" y="9568800"/>
            <a:ext cx="1172520" cy="585000"/>
            <a:chOff x="630720" y="9568800"/>
            <a:chExt cx="1172520" cy="585000"/>
          </a:xfrm>
        </p:grpSpPr>
        <p:sp>
          <p:nvSpPr>
            <p:cNvPr id="310" name="Freeform 17"/>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11" name="TextBox 18"/>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312" name="Group 19"/>
          <p:cNvGrpSpPr/>
          <p:nvPr/>
        </p:nvGrpSpPr>
        <p:grpSpPr>
          <a:xfrm>
            <a:off x="503640" y="9540360"/>
            <a:ext cx="456840" cy="485280"/>
            <a:chOff x="503640" y="9540360"/>
            <a:chExt cx="456840" cy="485280"/>
          </a:xfrm>
        </p:grpSpPr>
        <p:sp>
          <p:nvSpPr>
            <p:cNvPr id="313" name="Freeform 20"/>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14" name="Group 21"/>
            <p:cNvGrpSpPr/>
            <p:nvPr/>
          </p:nvGrpSpPr>
          <p:grpSpPr>
            <a:xfrm>
              <a:off x="503640" y="9540360"/>
              <a:ext cx="456840" cy="485280"/>
              <a:chOff x="503640" y="9540360"/>
              <a:chExt cx="456840" cy="485280"/>
            </a:xfrm>
          </p:grpSpPr>
          <p:sp>
            <p:nvSpPr>
              <p:cNvPr id="315" name="Freeform 2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16" name="TextBox 23"/>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317" name="Group 24"/>
          <p:cNvGrpSpPr/>
          <p:nvPr/>
        </p:nvGrpSpPr>
        <p:grpSpPr>
          <a:xfrm>
            <a:off x="1989360" y="9540360"/>
            <a:ext cx="456840" cy="485280"/>
            <a:chOff x="1989360" y="9540360"/>
            <a:chExt cx="456840" cy="485280"/>
          </a:xfrm>
        </p:grpSpPr>
        <p:sp>
          <p:nvSpPr>
            <p:cNvPr id="318" name="Freeform 2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19" name="Group 26"/>
            <p:cNvGrpSpPr/>
            <p:nvPr/>
          </p:nvGrpSpPr>
          <p:grpSpPr>
            <a:xfrm>
              <a:off x="1989360" y="9540360"/>
              <a:ext cx="456840" cy="485280"/>
              <a:chOff x="1989360" y="9540360"/>
              <a:chExt cx="456840" cy="485280"/>
            </a:xfrm>
          </p:grpSpPr>
          <p:sp>
            <p:nvSpPr>
              <p:cNvPr id="320" name="Freeform 27"/>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21" name="TextBox 2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322" name="Group 29"/>
          <p:cNvGrpSpPr/>
          <p:nvPr/>
        </p:nvGrpSpPr>
        <p:grpSpPr>
          <a:xfrm>
            <a:off x="816480" y="9554760"/>
            <a:ext cx="665280" cy="471240"/>
            <a:chOff x="816480" y="9554760"/>
            <a:chExt cx="665280" cy="471240"/>
          </a:xfrm>
        </p:grpSpPr>
        <p:sp>
          <p:nvSpPr>
            <p:cNvPr id="323" name="Freeform 30"/>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24" name="Group 31"/>
            <p:cNvGrpSpPr/>
            <p:nvPr/>
          </p:nvGrpSpPr>
          <p:grpSpPr>
            <a:xfrm>
              <a:off x="816480" y="9554760"/>
              <a:ext cx="665280" cy="471240"/>
              <a:chOff x="816480" y="9554760"/>
              <a:chExt cx="665280" cy="471240"/>
            </a:xfrm>
          </p:grpSpPr>
          <p:sp>
            <p:nvSpPr>
              <p:cNvPr id="325" name="Freeform 32"/>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26" name="TextBox 33"/>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327" name="Group 34"/>
          <p:cNvGrpSpPr/>
          <p:nvPr/>
        </p:nvGrpSpPr>
        <p:grpSpPr>
          <a:xfrm>
            <a:off x="1460880" y="9554760"/>
            <a:ext cx="665280" cy="471240"/>
            <a:chOff x="1460880" y="9554760"/>
            <a:chExt cx="665280" cy="471240"/>
          </a:xfrm>
        </p:grpSpPr>
        <p:sp>
          <p:nvSpPr>
            <p:cNvPr id="328" name="Freeform 35"/>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29" name="Group 36"/>
            <p:cNvGrpSpPr/>
            <p:nvPr/>
          </p:nvGrpSpPr>
          <p:grpSpPr>
            <a:xfrm>
              <a:off x="1460880" y="9554760"/>
              <a:ext cx="665280" cy="471240"/>
              <a:chOff x="1460880" y="9554760"/>
              <a:chExt cx="665280" cy="471240"/>
            </a:xfrm>
          </p:grpSpPr>
          <p:sp>
            <p:nvSpPr>
              <p:cNvPr id="330" name="Freeform 37"/>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31" name="TextBox 38"/>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grpSp>
        <p:nvGrpSpPr>
          <p:cNvPr id="332" name="Group 39"/>
          <p:cNvGrpSpPr/>
          <p:nvPr/>
        </p:nvGrpSpPr>
        <p:grpSpPr>
          <a:xfrm>
            <a:off x="503640" y="114480"/>
            <a:ext cx="15977160" cy="1164960"/>
            <a:chOff x="503640" y="114480"/>
            <a:chExt cx="15977160" cy="1164960"/>
          </a:xfrm>
        </p:grpSpPr>
        <p:sp>
          <p:nvSpPr>
            <p:cNvPr id="333" name="Freeform 40"/>
            <p:cNvSpPr/>
            <p:nvPr/>
          </p:nvSpPr>
          <p:spPr>
            <a:xfrm>
              <a:off x="503640" y="18576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34" name="TextBox 41"/>
            <p:cNvSpPr/>
            <p:nvPr/>
          </p:nvSpPr>
          <p:spPr>
            <a:xfrm>
              <a:off x="503640" y="114480"/>
              <a:ext cx="15977160" cy="1164960"/>
            </a:xfrm>
            <a:prstGeom prst="rect">
              <a:avLst/>
            </a:prstGeom>
            <a:noFill/>
            <a:ln w="0">
              <a:noFill/>
            </a:ln>
          </p:spPr>
          <p:style>
            <a:lnRef idx="0"/>
            <a:fillRef idx="0"/>
            <a:effectRef idx="0"/>
            <a:fontRef idx="minor"/>
          </p:style>
          <p:txBody>
            <a:bodyPr lIns="0" rIns="0" tIns="0" bIns="0" anchor="ctr">
              <a:noAutofit/>
            </a:bodyPr>
            <a:p>
              <a:pPr algn="ctr" defTabSz="914400">
                <a:lnSpc>
                  <a:spcPts val="3283"/>
                </a:lnSpc>
              </a:pPr>
              <a:r>
                <a:rPr b="0" lang="en-US" sz="2000" spc="-136" strike="noStrike" u="none">
                  <a:solidFill>
                    <a:srgbClr val="c00000"/>
                  </a:solidFill>
                  <a:effectLst/>
                  <a:uFillTx/>
                  <a:latin typeface="Georgia"/>
                  <a:ea typeface="Bodoni FLF"/>
                </a:rPr>
                <a:t>Pengaruh Kepuasan Kerja, Budaya Organisasi dan Motivasi Terhadap Retensi Karyawan Dengan Kompensasi Sebagai Variabel Pemoderasi</a:t>
              </a:r>
              <a:endParaRPr b="0" lang="en-US" sz="2000" strike="noStrike" u="none">
                <a:solidFill>
                  <a:srgbClr val="000000"/>
                </a:solidFill>
                <a:effectLst/>
                <a:uFillTx/>
                <a:latin typeface="Arial"/>
              </a:endParaRPr>
            </a:p>
            <a:p>
              <a:pPr algn="ctr" defTabSz="914400">
                <a:lnSpc>
                  <a:spcPts val="3283"/>
                </a:lnSpc>
              </a:pPr>
              <a:r>
                <a:rPr b="0" lang="en-US" sz="2000" spc="-136" strike="noStrike" u="none">
                  <a:solidFill>
                    <a:srgbClr val="c00000"/>
                  </a:solidFill>
                  <a:effectLst/>
                  <a:uFillTx/>
                  <a:latin typeface="Georgia"/>
                  <a:ea typeface="Bodoni FLF"/>
                </a:rPr>
                <a:t> (Studi Pada PT. Eloda Mitra)</a:t>
              </a:r>
              <a:endParaRPr b="0" lang="en-US" sz="2000" strike="noStrike" u="none">
                <a:solidFill>
                  <a:srgbClr val="000000"/>
                </a:solidFill>
                <a:effectLst/>
                <a:uFillTx/>
                <a:latin typeface="Arial"/>
              </a:endParaRPr>
            </a:p>
          </p:txBody>
        </p:sp>
      </p:grpSp>
      <p:sp>
        <p:nvSpPr>
          <p:cNvPr id="335" name="TextBox 43"/>
          <p:cNvSpPr/>
          <p:nvPr/>
        </p:nvSpPr>
        <p:spPr>
          <a:xfrm>
            <a:off x="630720" y="1504080"/>
            <a:ext cx="16686720" cy="6735600"/>
          </a:xfrm>
          <a:prstGeom prst="rect">
            <a:avLst/>
          </a:prstGeom>
          <a:noFill/>
          <a:ln w="0">
            <a:noFill/>
          </a:ln>
        </p:spPr>
        <p:style>
          <a:lnRef idx="0"/>
          <a:fillRef idx="0"/>
          <a:effectRef idx="0"/>
          <a:fontRef idx="minor"/>
        </p:style>
        <p:txBody>
          <a:bodyPr lIns="0" rIns="0" tIns="0" bIns="0" anchor="t">
            <a:spAutoFit/>
          </a:bodyPr>
          <a:p>
            <a:pPr defTabSz="914400">
              <a:lnSpc>
                <a:spcPts val="2701"/>
              </a:lnSpc>
            </a:pPr>
            <a:r>
              <a:rPr b="1" lang="en-US" sz="2800" strike="noStrike" u="none">
                <a:solidFill>
                  <a:srgbClr val="000000"/>
                </a:solidFill>
                <a:effectLst/>
                <a:uFillTx/>
                <a:latin typeface="Arial"/>
                <a:ea typeface="Arial"/>
              </a:rPr>
              <a:t>MANFAAT PENELITIAN</a:t>
            </a:r>
            <a:endParaRPr b="0" lang="en-US" sz="2800" strike="noStrike" u="none">
              <a:solidFill>
                <a:srgbClr val="000000"/>
              </a:solidFill>
              <a:effectLst/>
              <a:uFillTx/>
              <a:latin typeface="Arial"/>
            </a:endParaRPr>
          </a:p>
          <a:p>
            <a:pPr defTabSz="914400">
              <a:lnSpc>
                <a:spcPts val="2701"/>
              </a:lnSpc>
            </a:pPr>
            <a:endParaRPr b="0" lang="en-US" sz="2000" strike="noStrike" u="none">
              <a:solidFill>
                <a:srgbClr val="000000"/>
              </a:solidFill>
              <a:effectLst/>
              <a:uFillTx/>
              <a:latin typeface="Arial"/>
            </a:endParaRPr>
          </a:p>
          <a:p>
            <a:pPr marL="343080" indent="-343080" defTabSz="914400">
              <a:lnSpc>
                <a:spcPct val="150000"/>
              </a:lnSpc>
              <a:spcBef>
                <a:spcPts val="201"/>
              </a:spcBef>
              <a:buClr>
                <a:srgbClr val="000000"/>
              </a:buClr>
              <a:buFont typeface="Calibri"/>
              <a:buAutoNum type="arabicPeriod"/>
            </a:pPr>
            <a:r>
              <a:rPr b="1" lang="en-ID" sz="2000" strike="noStrike" u="none">
                <a:solidFill>
                  <a:srgbClr val="000000"/>
                </a:solidFill>
                <a:effectLst/>
                <a:uFillTx/>
                <a:latin typeface="Times New Roman"/>
                <a:ea typeface="Times New Roman"/>
              </a:rPr>
              <a:t>Manfaat Penelitian</a:t>
            </a:r>
            <a:endParaRPr b="0" lang="en-US" sz="2000" strike="noStrike" u="none">
              <a:solidFill>
                <a:srgbClr val="000000"/>
              </a:solidFill>
              <a:effectLst/>
              <a:uFillTx/>
              <a:latin typeface="Arial"/>
            </a:endParaRPr>
          </a:p>
          <a:p>
            <a:pPr algn="just" defTabSz="914400">
              <a:lnSpc>
                <a:spcPct val="107000"/>
              </a:lnSpc>
              <a:spcAft>
                <a:spcPts val="799"/>
              </a:spcAft>
              <a:tabLst>
                <a:tab algn="l" pos="0"/>
              </a:tabLst>
            </a:pPr>
            <a:r>
              <a:rPr b="0" lang="en-ID" sz="2000" strike="noStrike" u="none">
                <a:solidFill>
                  <a:schemeClr val="dk1"/>
                </a:solidFill>
                <a:effectLst/>
                <a:uFillTx/>
                <a:latin typeface="Times New Roman"/>
                <a:ea typeface="Calibri"/>
              </a:rPr>
              <a:t>Penelitian ini diharapkan dapat memberikan dua manfaat yaitu: (a) manfaat teoretis dan (b) manfaat praktis. Manfaat hasil penelitian tersebut adalah sebagai berikut:</a:t>
            </a:r>
            <a:endParaRPr b="0" lang="en-US" sz="2000" strike="noStrike" u="none">
              <a:solidFill>
                <a:srgbClr val="000000"/>
              </a:solidFill>
              <a:effectLst/>
              <a:uFillTx/>
              <a:latin typeface="Arial"/>
            </a:endParaRPr>
          </a:p>
          <a:p>
            <a:pPr marL="343080" indent="-343080" algn="just" defTabSz="914400">
              <a:lnSpc>
                <a:spcPct val="107000"/>
              </a:lnSpc>
              <a:spcAft>
                <a:spcPts val="799"/>
              </a:spcAft>
              <a:buClr>
                <a:srgbClr val="000000"/>
              </a:buClr>
              <a:buFont typeface="Calibri"/>
              <a:buAutoNum type="arabicPeriod"/>
              <a:tabLst>
                <a:tab algn="l" pos="0"/>
              </a:tabLst>
            </a:pPr>
            <a:r>
              <a:rPr b="0" lang="en-ID" sz="2000" strike="noStrike" u="none">
                <a:solidFill>
                  <a:schemeClr val="dk1"/>
                </a:solidFill>
                <a:effectLst/>
                <a:uFillTx/>
                <a:latin typeface="Times New Roman"/>
                <a:ea typeface="Calibri"/>
              </a:rPr>
              <a:t>Manfaat Teoritis</a:t>
            </a:r>
            <a:endParaRPr b="0" lang="en-US" sz="2000" strike="noStrike" u="none">
              <a:solidFill>
                <a:srgbClr val="000000"/>
              </a:solidFill>
              <a:effectLst/>
              <a:uFillTx/>
              <a:latin typeface="Arial"/>
            </a:endParaRPr>
          </a:p>
          <a:p>
            <a:pPr marL="540360" algn="just" defTabSz="914400">
              <a:lnSpc>
                <a:spcPct val="107000"/>
              </a:lnSpc>
              <a:spcAft>
                <a:spcPts val="799"/>
              </a:spcAft>
              <a:tabLst>
                <a:tab algn="l" pos="0"/>
              </a:tabLst>
            </a:pPr>
            <a:r>
              <a:rPr b="0" lang="en-ID" sz="2000" strike="noStrike" u="none">
                <a:solidFill>
                  <a:schemeClr val="dk1"/>
                </a:solidFill>
                <a:effectLst/>
                <a:uFillTx/>
                <a:latin typeface="Times New Roman"/>
                <a:ea typeface="Calibri"/>
              </a:rPr>
              <a:t>Manfaat dari penelitian ini adalah untuk memperluas wawasan dan pemahaman dalam ilmu pengetahuan pada bidang Manajemen, khususnya yang berhubungan dengan Manajemen Sumber Daya Manusia.</a:t>
            </a:r>
            <a:endParaRPr b="0" lang="en-US" sz="20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tabLst>
                <a:tab algn="l" pos="0"/>
              </a:tabLst>
            </a:pPr>
            <a:r>
              <a:rPr b="0" lang="en-ID" sz="2000" strike="noStrike" u="none">
                <a:solidFill>
                  <a:schemeClr val="dk1"/>
                </a:solidFill>
                <a:effectLst/>
                <a:uFillTx/>
                <a:latin typeface="Times New Roman"/>
                <a:ea typeface="Calibri"/>
              </a:rPr>
              <a:t>Manfaat Praktis</a:t>
            </a:r>
            <a:endParaRPr b="0" lang="en-US" sz="2000" strike="noStrike" u="none">
              <a:solidFill>
                <a:srgbClr val="000000"/>
              </a:solidFill>
              <a:effectLst/>
              <a:uFillTx/>
              <a:latin typeface="Arial"/>
            </a:endParaRPr>
          </a:p>
          <a:p>
            <a:pPr marL="457200" indent="-457200" algn="just" defTabSz="914400">
              <a:lnSpc>
                <a:spcPct val="107000"/>
              </a:lnSpc>
              <a:buClr>
                <a:srgbClr val="000000"/>
              </a:buClr>
              <a:buFont typeface="Calibri"/>
              <a:buAutoNum type="alphaUcPeriod"/>
              <a:tabLst>
                <a:tab algn="l" pos="0"/>
              </a:tabLst>
            </a:pPr>
            <a:r>
              <a:rPr b="0" lang="en-US" sz="2000" strike="noStrike" u="none">
                <a:solidFill>
                  <a:schemeClr val="dk1"/>
                </a:solidFill>
                <a:effectLst/>
                <a:uFillTx/>
                <a:latin typeface="Times New Roman"/>
                <a:ea typeface="Calibri"/>
              </a:rPr>
              <a:t>Bagi Peneliti</a:t>
            </a:r>
            <a:endParaRPr b="0" lang="en-US" sz="2000" strike="noStrike" u="none">
              <a:solidFill>
                <a:srgbClr val="000000"/>
              </a:solidFill>
              <a:effectLst/>
              <a:uFillTx/>
              <a:latin typeface="Arial"/>
            </a:endParaRPr>
          </a:p>
          <a:p>
            <a:pPr marL="768960" algn="just" defTabSz="914400">
              <a:lnSpc>
                <a:spcPct val="107000"/>
              </a:lnSpc>
              <a:tabLst>
                <a:tab algn="l" pos="0"/>
              </a:tabLst>
            </a:pPr>
            <a:r>
              <a:rPr b="0" lang="en-ID" sz="2000" strike="noStrike" u="none">
                <a:solidFill>
                  <a:schemeClr val="dk1"/>
                </a:solidFill>
                <a:effectLst/>
                <a:uFillTx/>
                <a:latin typeface="Times New Roman"/>
                <a:ea typeface="Calibri"/>
              </a:rPr>
              <a:t>Penelitian ini diharapkan dapat memperluas pengetahuan sekaligus melakukan pengujian ulang terhadap teori kepuasan kerja, budaya organisasi, dan motivasi, dengan mempertimbangkan kompensasi sebagai variabel moderasi pada PT. Eloda Mitra.</a:t>
            </a:r>
            <a:endParaRPr b="0" lang="en-US" sz="2000" strike="noStrike" u="none">
              <a:solidFill>
                <a:srgbClr val="000000"/>
              </a:solidFill>
              <a:effectLst/>
              <a:uFillTx/>
              <a:latin typeface="Arial"/>
            </a:endParaRPr>
          </a:p>
          <a:p>
            <a:pPr marL="457200" indent="-457200" algn="just" defTabSz="914400">
              <a:lnSpc>
                <a:spcPct val="107000"/>
              </a:lnSpc>
              <a:buClr>
                <a:srgbClr val="000000"/>
              </a:buClr>
              <a:buFont typeface="Calibri"/>
              <a:buAutoNum type="alphaUcPeriod" startAt="2"/>
              <a:tabLst>
                <a:tab algn="l" pos="0"/>
              </a:tabLst>
            </a:pPr>
            <a:r>
              <a:rPr b="0" lang="en-US" sz="2000" strike="noStrike" u="none">
                <a:solidFill>
                  <a:schemeClr val="dk1"/>
                </a:solidFill>
                <a:effectLst/>
                <a:uFillTx/>
                <a:latin typeface="Times New Roman"/>
                <a:ea typeface="Calibri"/>
              </a:rPr>
              <a:t>Bagi Objek Penelitian</a:t>
            </a:r>
            <a:endParaRPr b="0" lang="en-US" sz="2000" strike="noStrike" u="none">
              <a:solidFill>
                <a:srgbClr val="000000"/>
              </a:solidFill>
              <a:effectLst/>
              <a:uFillTx/>
              <a:latin typeface="Arial"/>
            </a:endParaRPr>
          </a:p>
          <a:p>
            <a:pPr marL="768960" algn="just" defTabSz="914400">
              <a:lnSpc>
                <a:spcPct val="107000"/>
              </a:lnSpc>
              <a:tabLst>
                <a:tab algn="l" pos="0"/>
              </a:tabLst>
            </a:pPr>
            <a:r>
              <a:rPr b="0" lang="en-ID" sz="2000" strike="noStrike" u="none">
                <a:solidFill>
                  <a:schemeClr val="dk1"/>
                </a:solidFill>
                <a:effectLst/>
                <a:uFillTx/>
                <a:latin typeface="Times New Roman"/>
                <a:ea typeface="Calibri"/>
              </a:rPr>
              <a:t>Penelitian ini diharapkan dapat memberikan kontribusi yang signifikan bagi PT. Eloda Mitra, khususnya dalam bidang manajemen sumber daya manusia. Selain itu, penelitian ini diharapkan dapat memberikan wawasan yang bermanfaat bagi praktisi dalam merancang strategi pengelolaan dan pengembangan sumber daya manusia terutama dalam mengelola retensi karyawan.</a:t>
            </a:r>
            <a:endParaRPr b="0" lang="en-US" sz="2000" strike="noStrike" u="none">
              <a:solidFill>
                <a:srgbClr val="000000"/>
              </a:solidFill>
              <a:effectLst/>
              <a:uFillTx/>
              <a:latin typeface="Arial"/>
            </a:endParaRPr>
          </a:p>
          <a:p>
            <a:pPr marL="457200" indent="-457200" algn="just" defTabSz="914400">
              <a:lnSpc>
                <a:spcPct val="107000"/>
              </a:lnSpc>
              <a:buClr>
                <a:srgbClr val="000000"/>
              </a:buClr>
              <a:buFont typeface="Calibri"/>
              <a:buAutoNum type="alphaUcPeriod" startAt="3"/>
              <a:tabLst>
                <a:tab algn="l" pos="0"/>
              </a:tabLst>
            </a:pPr>
            <a:r>
              <a:rPr b="0" lang="en-US" sz="2000" strike="noStrike" u="none">
                <a:solidFill>
                  <a:schemeClr val="dk1"/>
                </a:solidFill>
                <a:effectLst/>
                <a:uFillTx/>
                <a:latin typeface="Times New Roman"/>
                <a:ea typeface="Calibri"/>
              </a:rPr>
              <a:t>Bagi Peneliti Selanjutnya</a:t>
            </a:r>
            <a:endParaRPr b="0" lang="en-US" sz="2000" strike="noStrike" u="none">
              <a:solidFill>
                <a:srgbClr val="000000"/>
              </a:solidFill>
              <a:effectLst/>
              <a:uFillTx/>
              <a:latin typeface="Arial"/>
            </a:endParaRPr>
          </a:p>
          <a:p>
            <a:pPr marL="768960" algn="just" defTabSz="914400">
              <a:lnSpc>
                <a:spcPct val="107000"/>
              </a:lnSpc>
              <a:spcAft>
                <a:spcPts val="799"/>
              </a:spcAft>
              <a:tabLst>
                <a:tab algn="l" pos="0"/>
              </a:tabLst>
            </a:pPr>
            <a:r>
              <a:rPr b="0" lang="en-ID" sz="2000" strike="noStrike" u="none">
                <a:solidFill>
                  <a:schemeClr val="dk1"/>
                </a:solidFill>
                <a:effectLst/>
                <a:uFillTx/>
                <a:latin typeface="Times New Roman"/>
                <a:ea typeface="Calibri"/>
              </a:rPr>
              <a:t>Penelitian ini memberikan kesempatan bagi peneliti lain untuk menggali lebih dalam dan mengembangkan pemahaman terkait teori serta konsep dalam bidang manajemen, khususnya berkaitan dengan program studi manajemen sumber daya manusia</a:t>
            </a:r>
            <a:r>
              <a:rPr b="0" lang="en-ID" sz="1800" strike="noStrike" u="none">
                <a:solidFill>
                  <a:schemeClr val="dk1"/>
                </a:solidFill>
                <a:effectLst/>
                <a:uFillTx/>
                <a:latin typeface="Times New Roman"/>
                <a:ea typeface="Calibri"/>
              </a:rPr>
              <a:t>.</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36" name="Group 2"/>
          <p:cNvGrpSpPr/>
          <p:nvPr/>
        </p:nvGrpSpPr>
        <p:grpSpPr>
          <a:xfrm>
            <a:off x="21600" y="8652240"/>
            <a:ext cx="18265680" cy="1634400"/>
            <a:chOff x="21600" y="8652240"/>
            <a:chExt cx="18265680" cy="1634400"/>
          </a:xfrm>
        </p:grpSpPr>
        <p:sp>
          <p:nvSpPr>
            <p:cNvPr id="337"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338" name="Group 4"/>
          <p:cNvGrpSpPr/>
          <p:nvPr/>
        </p:nvGrpSpPr>
        <p:grpSpPr>
          <a:xfrm>
            <a:off x="16725240" y="259920"/>
            <a:ext cx="1257480" cy="1197720"/>
            <a:chOff x="16725240" y="259920"/>
            <a:chExt cx="1257480" cy="1197720"/>
          </a:xfrm>
        </p:grpSpPr>
        <p:sp>
          <p:nvSpPr>
            <p:cNvPr id="339" name="Freeform 5"/>
            <p:cNvSpPr/>
            <p:nvPr/>
          </p:nvSpPr>
          <p:spPr>
            <a:xfrm>
              <a:off x="16725240" y="259920"/>
              <a:ext cx="1257480" cy="1197720"/>
            </a:xfrm>
            <a:custGeom>
              <a:avLst/>
              <a:gdLst>
                <a:gd name="textAreaLeft" fmla="*/ 0 w 1257480"/>
                <a:gd name="textAreaRight" fmla="*/ 1257840 w 1257480"/>
                <a:gd name="textAreaTop" fmla="*/ 0 h 1197720"/>
                <a:gd name="textAreaBottom" fmla="*/ 1198080 h 119772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340" name="AutoShape 6"/>
          <p:cNvSpPr/>
          <p:nvPr/>
        </p:nvSpPr>
        <p:spPr>
          <a:xfrm>
            <a:off x="474840" y="128448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341" name="Group 7"/>
          <p:cNvGrpSpPr/>
          <p:nvPr/>
        </p:nvGrpSpPr>
        <p:grpSpPr>
          <a:xfrm>
            <a:off x="17441640" y="9310320"/>
            <a:ext cx="702720" cy="734400"/>
            <a:chOff x="17441640" y="9310320"/>
            <a:chExt cx="702720" cy="734400"/>
          </a:xfrm>
        </p:grpSpPr>
        <p:sp>
          <p:nvSpPr>
            <p:cNvPr id="342" name="Freeform 8"/>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43" name="Freeform 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344" name="Group 10"/>
          <p:cNvGrpSpPr/>
          <p:nvPr/>
        </p:nvGrpSpPr>
        <p:grpSpPr>
          <a:xfrm>
            <a:off x="13032360" y="9413640"/>
            <a:ext cx="3756600" cy="592200"/>
            <a:chOff x="13032360" y="9413640"/>
            <a:chExt cx="3756600" cy="592200"/>
          </a:xfrm>
        </p:grpSpPr>
        <p:sp>
          <p:nvSpPr>
            <p:cNvPr id="345" name="Freeform 11"/>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46" name="TextBox 12"/>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347" name="Group 13"/>
          <p:cNvGrpSpPr/>
          <p:nvPr/>
        </p:nvGrpSpPr>
        <p:grpSpPr>
          <a:xfrm>
            <a:off x="17480520" y="9324000"/>
            <a:ext cx="615960" cy="644760"/>
            <a:chOff x="17480520" y="9324000"/>
            <a:chExt cx="615960" cy="644760"/>
          </a:xfrm>
        </p:grpSpPr>
        <p:sp>
          <p:nvSpPr>
            <p:cNvPr id="348" name="Freeform 14"/>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49" name="TextBox 15"/>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350" name="Group 16"/>
          <p:cNvGrpSpPr/>
          <p:nvPr/>
        </p:nvGrpSpPr>
        <p:grpSpPr>
          <a:xfrm>
            <a:off x="630720" y="9568800"/>
            <a:ext cx="1172520" cy="585000"/>
            <a:chOff x="630720" y="9568800"/>
            <a:chExt cx="1172520" cy="585000"/>
          </a:xfrm>
        </p:grpSpPr>
        <p:sp>
          <p:nvSpPr>
            <p:cNvPr id="351" name="Freeform 17"/>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52" name="TextBox 18"/>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353" name="Group 19"/>
          <p:cNvGrpSpPr/>
          <p:nvPr/>
        </p:nvGrpSpPr>
        <p:grpSpPr>
          <a:xfrm>
            <a:off x="503640" y="9540360"/>
            <a:ext cx="456840" cy="485280"/>
            <a:chOff x="503640" y="9540360"/>
            <a:chExt cx="456840" cy="485280"/>
          </a:xfrm>
        </p:grpSpPr>
        <p:sp>
          <p:nvSpPr>
            <p:cNvPr id="354" name="Freeform 20"/>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55" name="Group 21"/>
            <p:cNvGrpSpPr/>
            <p:nvPr/>
          </p:nvGrpSpPr>
          <p:grpSpPr>
            <a:xfrm>
              <a:off x="503640" y="9540360"/>
              <a:ext cx="456840" cy="485280"/>
              <a:chOff x="503640" y="9540360"/>
              <a:chExt cx="456840" cy="485280"/>
            </a:xfrm>
          </p:grpSpPr>
          <p:sp>
            <p:nvSpPr>
              <p:cNvPr id="356" name="Freeform 2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57" name="TextBox 23"/>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358" name="Group 24"/>
          <p:cNvGrpSpPr/>
          <p:nvPr/>
        </p:nvGrpSpPr>
        <p:grpSpPr>
          <a:xfrm>
            <a:off x="1989360" y="9540360"/>
            <a:ext cx="456840" cy="485280"/>
            <a:chOff x="1989360" y="9540360"/>
            <a:chExt cx="456840" cy="485280"/>
          </a:xfrm>
        </p:grpSpPr>
        <p:sp>
          <p:nvSpPr>
            <p:cNvPr id="359" name="Freeform 2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60" name="Group 26"/>
            <p:cNvGrpSpPr/>
            <p:nvPr/>
          </p:nvGrpSpPr>
          <p:grpSpPr>
            <a:xfrm>
              <a:off x="1989360" y="9540360"/>
              <a:ext cx="456840" cy="485280"/>
              <a:chOff x="1989360" y="9540360"/>
              <a:chExt cx="456840" cy="485280"/>
            </a:xfrm>
          </p:grpSpPr>
          <p:sp>
            <p:nvSpPr>
              <p:cNvPr id="361" name="Freeform 27"/>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62" name="TextBox 2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363" name="Group 29"/>
          <p:cNvGrpSpPr/>
          <p:nvPr/>
        </p:nvGrpSpPr>
        <p:grpSpPr>
          <a:xfrm>
            <a:off x="816480" y="9554760"/>
            <a:ext cx="665280" cy="471240"/>
            <a:chOff x="816480" y="9554760"/>
            <a:chExt cx="665280" cy="471240"/>
          </a:xfrm>
        </p:grpSpPr>
        <p:sp>
          <p:nvSpPr>
            <p:cNvPr id="364" name="Freeform 30"/>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65" name="Group 31"/>
            <p:cNvGrpSpPr/>
            <p:nvPr/>
          </p:nvGrpSpPr>
          <p:grpSpPr>
            <a:xfrm>
              <a:off x="816480" y="9554760"/>
              <a:ext cx="665280" cy="471240"/>
              <a:chOff x="816480" y="9554760"/>
              <a:chExt cx="665280" cy="471240"/>
            </a:xfrm>
          </p:grpSpPr>
          <p:sp>
            <p:nvSpPr>
              <p:cNvPr id="366" name="Freeform 32"/>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67" name="TextBox 33"/>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368" name="Group 34"/>
          <p:cNvGrpSpPr/>
          <p:nvPr/>
        </p:nvGrpSpPr>
        <p:grpSpPr>
          <a:xfrm>
            <a:off x="1460880" y="9554760"/>
            <a:ext cx="665280" cy="471240"/>
            <a:chOff x="1460880" y="9554760"/>
            <a:chExt cx="665280" cy="471240"/>
          </a:xfrm>
        </p:grpSpPr>
        <p:sp>
          <p:nvSpPr>
            <p:cNvPr id="369" name="Freeform 35"/>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370" name="Group 36"/>
            <p:cNvGrpSpPr/>
            <p:nvPr/>
          </p:nvGrpSpPr>
          <p:grpSpPr>
            <a:xfrm>
              <a:off x="1460880" y="9554760"/>
              <a:ext cx="665280" cy="471240"/>
              <a:chOff x="1460880" y="9554760"/>
              <a:chExt cx="665280" cy="471240"/>
            </a:xfrm>
          </p:grpSpPr>
          <p:sp>
            <p:nvSpPr>
              <p:cNvPr id="371" name="Freeform 37"/>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72" name="TextBox 38"/>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grpSp>
        <p:nvGrpSpPr>
          <p:cNvPr id="373" name="Group 39"/>
          <p:cNvGrpSpPr/>
          <p:nvPr/>
        </p:nvGrpSpPr>
        <p:grpSpPr>
          <a:xfrm>
            <a:off x="503640" y="114480"/>
            <a:ext cx="15977160" cy="1164960"/>
            <a:chOff x="503640" y="114480"/>
            <a:chExt cx="15977160" cy="1164960"/>
          </a:xfrm>
        </p:grpSpPr>
        <p:sp>
          <p:nvSpPr>
            <p:cNvPr id="374" name="Freeform 40"/>
            <p:cNvSpPr/>
            <p:nvPr/>
          </p:nvSpPr>
          <p:spPr>
            <a:xfrm>
              <a:off x="503640" y="18576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75" name="TextBox 41"/>
            <p:cNvSpPr/>
            <p:nvPr/>
          </p:nvSpPr>
          <p:spPr>
            <a:xfrm>
              <a:off x="503640" y="114480"/>
              <a:ext cx="15977160" cy="1164960"/>
            </a:xfrm>
            <a:prstGeom prst="rect">
              <a:avLst/>
            </a:prstGeom>
            <a:noFill/>
            <a:ln w="0">
              <a:noFill/>
            </a:ln>
          </p:spPr>
          <p:style>
            <a:lnRef idx="0"/>
            <a:fillRef idx="0"/>
            <a:effectRef idx="0"/>
            <a:fontRef idx="minor"/>
          </p:style>
          <p:txBody>
            <a:bodyPr lIns="0" rIns="0" tIns="0" bIns="0" anchor="ctr">
              <a:noAutofit/>
            </a:bodyPr>
            <a:p>
              <a:pPr algn="ctr" defTabSz="914400">
                <a:lnSpc>
                  <a:spcPts val="3283"/>
                </a:lnSpc>
              </a:pPr>
              <a:r>
                <a:rPr b="0" lang="en-US" sz="2000" spc="-136" strike="noStrike" u="none">
                  <a:solidFill>
                    <a:srgbClr val="c00000"/>
                  </a:solidFill>
                  <a:effectLst/>
                  <a:uFillTx/>
                  <a:latin typeface="Georgia"/>
                  <a:ea typeface="Bodoni FLF"/>
                </a:rPr>
                <a:t>Pengaruh Kepuasan Kerja, Budaya Organisasi dan Motivasi Terhadap Retensi Karyawan Dengan Kompensasi Sebagai Variabel Pemoderasi</a:t>
              </a:r>
              <a:endParaRPr b="0" lang="en-US" sz="2000" strike="noStrike" u="none">
                <a:solidFill>
                  <a:srgbClr val="000000"/>
                </a:solidFill>
                <a:effectLst/>
                <a:uFillTx/>
                <a:latin typeface="Arial"/>
              </a:endParaRPr>
            </a:p>
            <a:p>
              <a:pPr algn="ctr" defTabSz="914400">
                <a:lnSpc>
                  <a:spcPts val="3283"/>
                </a:lnSpc>
              </a:pPr>
              <a:r>
                <a:rPr b="0" lang="en-US" sz="2000" spc="-136" strike="noStrike" u="none">
                  <a:solidFill>
                    <a:srgbClr val="c00000"/>
                  </a:solidFill>
                  <a:effectLst/>
                  <a:uFillTx/>
                  <a:latin typeface="Georgia"/>
                  <a:ea typeface="Bodoni FLF"/>
                </a:rPr>
                <a:t> (Studi Pada PT. Eloda Mitra)</a:t>
              </a:r>
              <a:endParaRPr b="0" lang="en-US" sz="2000" strike="noStrike" u="none">
                <a:solidFill>
                  <a:srgbClr val="000000"/>
                </a:solidFill>
                <a:effectLst/>
                <a:uFillTx/>
                <a:latin typeface="Arial"/>
              </a:endParaRPr>
            </a:p>
          </p:txBody>
        </p:sp>
      </p:grpSp>
      <p:sp>
        <p:nvSpPr>
          <p:cNvPr id="376" name="Rectangle: Rounded Corners 41"/>
          <p:cNvSpPr/>
          <p:nvPr/>
        </p:nvSpPr>
        <p:spPr>
          <a:xfrm>
            <a:off x="7565040" y="1369440"/>
            <a:ext cx="3153600" cy="1182960"/>
          </a:xfrm>
          <a:prstGeom prst="roundRect">
            <a:avLst>
              <a:gd name="adj" fmla="val 16667"/>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lt1"/>
                </a:solidFill>
                <a:effectLst/>
                <a:uFillTx/>
                <a:latin typeface="Calibri"/>
              </a:rPr>
              <a:t>Social Exchange Theory (Homans, 1961; Thibaut &amp; Kelley, 1959; Emerson, 1962; Blau, 2017)</a:t>
            </a:r>
            <a:endParaRPr b="0" lang="en-US" sz="1800" strike="noStrike" u="none">
              <a:solidFill>
                <a:srgbClr val="ffffff"/>
              </a:solidFill>
              <a:effectLst/>
              <a:uFillTx/>
              <a:latin typeface="Arial"/>
            </a:endParaRPr>
          </a:p>
        </p:txBody>
      </p:sp>
      <p:sp>
        <p:nvSpPr>
          <p:cNvPr id="377" name="Rectangle: Rounded Corners 44"/>
          <p:cNvSpPr/>
          <p:nvPr/>
        </p:nvSpPr>
        <p:spPr>
          <a:xfrm>
            <a:off x="7590240" y="2664720"/>
            <a:ext cx="3153600" cy="805680"/>
          </a:xfrm>
          <a:prstGeom prst="roundRect">
            <a:avLst>
              <a:gd name="adj" fmla="val 16667"/>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800" strike="noStrike" u="none">
                <a:solidFill>
                  <a:schemeClr val="lt1"/>
                </a:solidFill>
                <a:effectLst/>
                <a:uFillTx/>
                <a:latin typeface="Calibri"/>
              </a:rPr>
              <a:t>Organizational Commitment Theory</a:t>
            </a:r>
            <a:r>
              <a:rPr b="0" lang="en-US" sz="1800" strike="noStrike" u="none">
                <a:solidFill>
                  <a:schemeClr val="lt1"/>
                </a:solidFill>
                <a:effectLst/>
                <a:uFillTx/>
                <a:latin typeface="Calibri"/>
              </a:rPr>
              <a:t> (Meyer &amp; Allen, 1997)</a:t>
            </a:r>
            <a:endParaRPr b="0" lang="en-US" sz="1800" strike="noStrike" u="none">
              <a:solidFill>
                <a:srgbClr val="ffffff"/>
              </a:solidFill>
              <a:effectLst/>
              <a:uFillTx/>
              <a:latin typeface="Arial"/>
            </a:endParaRPr>
          </a:p>
        </p:txBody>
      </p:sp>
      <p:sp>
        <p:nvSpPr>
          <p:cNvPr id="378" name="Rectangle: Rounded Corners 45"/>
          <p:cNvSpPr/>
          <p:nvPr/>
        </p:nvSpPr>
        <p:spPr>
          <a:xfrm>
            <a:off x="714600" y="3848040"/>
            <a:ext cx="2790360" cy="6252840"/>
          </a:xfrm>
          <a:prstGeom prst="roundRect">
            <a:avLst>
              <a:gd name="adj" fmla="val 16667"/>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en-ID" sz="1800" strike="noStrike" u="none">
                <a:solidFill>
                  <a:schemeClr val="lt1"/>
                </a:solidFill>
                <a:effectLst/>
                <a:uFillTx/>
                <a:latin typeface="Calibri"/>
              </a:rPr>
              <a:t>Kepuasan Kerja</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Definisi: sikap positif individu terhadap pekerjaan (Robbins &amp; Judge, 2024; Indrasari et al., 2017).</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Teori: Need Fulfilment, Equity, Discrepancy, Two-Factor (Herzberg), Social Reference Group.</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Faktor: pemanfaatan keterampilan, prestasi, kompensasi, hubungan kerja, kondisi kerja.</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Indikator (Kawiana, 2020; Rees &amp; Smith, 2021): hubungan kerja, tantangan kerja, perlindungan, kompensasi, promosi, supervisi, hubungan rekan kerja.</a:t>
            </a:r>
            <a:endParaRPr b="0" lang="en-US" sz="1800" strike="noStrike" u="none">
              <a:solidFill>
                <a:srgbClr val="ffffff"/>
              </a:solidFill>
              <a:effectLst/>
              <a:uFillTx/>
              <a:latin typeface="Arial"/>
            </a:endParaRPr>
          </a:p>
        </p:txBody>
      </p:sp>
      <p:sp>
        <p:nvSpPr>
          <p:cNvPr id="379" name="Rectangle: Rounded Corners 46"/>
          <p:cNvSpPr/>
          <p:nvPr/>
        </p:nvSpPr>
        <p:spPr>
          <a:xfrm>
            <a:off x="4419720" y="3848040"/>
            <a:ext cx="2790360" cy="6252840"/>
          </a:xfrm>
          <a:prstGeom prst="roundRect">
            <a:avLst>
              <a:gd name="adj" fmla="val 16667"/>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en-ID" sz="1800" strike="noStrike" u="none">
                <a:solidFill>
                  <a:schemeClr val="lt1"/>
                </a:solidFill>
                <a:effectLst/>
                <a:uFillTx/>
                <a:latin typeface="Calibri"/>
              </a:rPr>
              <a:t>Budaya Organisasi</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Definisi: sistem nilai, norma, keyakinan sebagai pedoman perilaku (Schein; Robbins &amp; Judge, 2024; Ariawuri Wicaksana et al., 2021).</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Fungsi: identitas, pembeda, komitmen, stabilitas, pedoman perilaku.</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Karakteristik: orientasi hasil, inovasi, perhatian pada detail, orientasi tim/manusia, stabilitas.</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Indikator: inovasi, orientasi hasil, kesejahteraan karyawan, agresivitas, stabilitas</a:t>
            </a:r>
            <a:endParaRPr b="0" lang="en-US" sz="1800" strike="noStrike" u="none">
              <a:solidFill>
                <a:srgbClr val="ffffff"/>
              </a:solidFill>
              <a:effectLst/>
              <a:uFillTx/>
              <a:latin typeface="Arial"/>
            </a:endParaRPr>
          </a:p>
          <a:p>
            <a:pPr algn="ctr" defTabSz="914400">
              <a:lnSpc>
                <a:spcPct val="100000"/>
              </a:lnSpc>
            </a:pPr>
            <a:endParaRPr b="0" lang="en-US" sz="1800" strike="noStrike" u="none">
              <a:solidFill>
                <a:srgbClr val="ffffff"/>
              </a:solidFill>
              <a:effectLst/>
              <a:uFillTx/>
              <a:latin typeface="Arial"/>
            </a:endParaRPr>
          </a:p>
        </p:txBody>
      </p:sp>
      <p:sp>
        <p:nvSpPr>
          <p:cNvPr id="380" name="Rectangle: Rounded Corners 47"/>
          <p:cNvSpPr/>
          <p:nvPr/>
        </p:nvSpPr>
        <p:spPr>
          <a:xfrm>
            <a:off x="8077320" y="3848040"/>
            <a:ext cx="2361960" cy="6252840"/>
          </a:xfrm>
          <a:prstGeom prst="roundRect">
            <a:avLst>
              <a:gd name="adj" fmla="val 16667"/>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en-ID" sz="1600" strike="noStrike" u="none">
                <a:solidFill>
                  <a:schemeClr val="lt1"/>
                </a:solidFill>
                <a:effectLst/>
                <a:uFillTx/>
                <a:latin typeface="Calibri"/>
              </a:rPr>
              <a:t>Motivasi Kerja</a:t>
            </a:r>
            <a:endParaRPr b="0" lang="en-US" sz="16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600" strike="noStrike" u="none">
                <a:solidFill>
                  <a:schemeClr val="lt1"/>
                </a:solidFill>
                <a:effectLst/>
                <a:uFillTx/>
                <a:latin typeface="Calibri"/>
              </a:rPr>
              <a:t>Definisi: dorongan internal/eksternal untuk bekerja (Zusrony, 2021; Amir et al., 2022).</a:t>
            </a:r>
            <a:endParaRPr b="0" lang="en-US" sz="16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600" strike="noStrike" u="none">
                <a:solidFill>
                  <a:schemeClr val="lt1"/>
                </a:solidFill>
                <a:effectLst/>
                <a:uFillTx/>
                <a:latin typeface="Calibri"/>
              </a:rPr>
              <a:t>Teori: Maslow’s Hierarchy of Needs, Herzberg’s Motivation-Hygiene Theory, McClelland’s Theory of Needs.</a:t>
            </a:r>
            <a:endParaRPr b="0" lang="en-US" sz="16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600" strike="noStrike" u="none">
                <a:solidFill>
                  <a:schemeClr val="lt1"/>
                </a:solidFill>
                <a:effectLst/>
                <a:uFillTx/>
                <a:latin typeface="Calibri"/>
              </a:rPr>
              <a:t>Faktor pendorong: kepemimpinan efektif, tantangan kerja, penghargaan, pemberdayaan, pengakuan.</a:t>
            </a:r>
            <a:endParaRPr b="0" lang="en-US" sz="16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600" strike="noStrike" u="none">
                <a:solidFill>
                  <a:schemeClr val="lt1"/>
                </a:solidFill>
                <a:effectLst/>
                <a:uFillTx/>
                <a:latin typeface="Calibri"/>
              </a:rPr>
              <a:t>Indikator: kebutuhan fisiologis, rasa aman, sosial, penghargaan, aktualisasi diri.</a:t>
            </a:r>
            <a:endParaRPr b="0" lang="en-US" sz="1600" strike="noStrike" u="none">
              <a:solidFill>
                <a:srgbClr val="ffffff"/>
              </a:solidFill>
              <a:effectLst/>
              <a:uFillTx/>
              <a:latin typeface="Arial"/>
            </a:endParaRPr>
          </a:p>
          <a:p>
            <a:pPr algn="ctr" defTabSz="914400">
              <a:lnSpc>
                <a:spcPct val="100000"/>
              </a:lnSpc>
            </a:pPr>
            <a:endParaRPr b="0" lang="en-US" sz="1800" strike="noStrike" u="none">
              <a:solidFill>
                <a:srgbClr val="ffffff"/>
              </a:solidFill>
              <a:effectLst/>
              <a:uFillTx/>
              <a:latin typeface="Arial"/>
            </a:endParaRPr>
          </a:p>
        </p:txBody>
      </p:sp>
      <p:sp>
        <p:nvSpPr>
          <p:cNvPr id="381" name="Rectangle: Rounded Corners 48"/>
          <p:cNvSpPr/>
          <p:nvPr/>
        </p:nvSpPr>
        <p:spPr>
          <a:xfrm>
            <a:off x="11582280" y="3848040"/>
            <a:ext cx="2361960" cy="6195960"/>
          </a:xfrm>
          <a:prstGeom prst="roundRect">
            <a:avLst>
              <a:gd name="adj" fmla="val 16667"/>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en-ID" sz="1800" strike="noStrike" u="none">
                <a:solidFill>
                  <a:schemeClr val="lt1"/>
                </a:solidFill>
                <a:effectLst/>
                <a:uFillTx/>
                <a:latin typeface="Calibri"/>
              </a:rPr>
              <a:t>Kompensasi</a:t>
            </a:r>
            <a:r>
              <a:rPr b="0" lang="en-ID" sz="1800" strike="noStrike" u="none">
                <a:solidFill>
                  <a:schemeClr val="lt1"/>
                </a:solidFill>
                <a:effectLst/>
                <a:uFillTx/>
                <a:latin typeface="Calibri"/>
              </a:rPr>
              <a:t> </a:t>
            </a:r>
            <a:r>
              <a:rPr b="0" i="1" lang="en-ID" sz="1800" strike="noStrike" u="none">
                <a:solidFill>
                  <a:schemeClr val="lt1"/>
                </a:solidFill>
                <a:effectLst/>
                <a:uFillTx/>
                <a:latin typeface="Calibri"/>
              </a:rPr>
              <a:t>(Moderator)</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Definisi: penghargaan atas kontribusi (Yuniarti et al., 2021; Sinambela, 2016).</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Jenis: finansial langsung (gaji, insentif), finansial tidak langsung (tunjangan, fasilitas).</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Asas: keadilan, kelayakan, kewajaran.</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Indikator: gaji, insentif, tunjangan, fasilitas.</a:t>
            </a:r>
            <a:endParaRPr b="0" lang="en-US" sz="1800" strike="noStrike" u="none">
              <a:solidFill>
                <a:srgbClr val="ffffff"/>
              </a:solidFill>
              <a:effectLst/>
              <a:uFillTx/>
              <a:latin typeface="Arial"/>
            </a:endParaRPr>
          </a:p>
          <a:p>
            <a:pPr algn="ctr" defTabSz="914400">
              <a:lnSpc>
                <a:spcPct val="100000"/>
              </a:lnSpc>
            </a:pPr>
            <a:endParaRPr b="0" lang="en-US" sz="1800" strike="noStrike" u="none">
              <a:solidFill>
                <a:srgbClr val="ffffff"/>
              </a:solidFill>
              <a:effectLst/>
              <a:uFillTx/>
              <a:latin typeface="Arial"/>
            </a:endParaRPr>
          </a:p>
        </p:txBody>
      </p:sp>
      <p:sp>
        <p:nvSpPr>
          <p:cNvPr id="382" name="Rectangle: Rounded Corners 49"/>
          <p:cNvSpPr/>
          <p:nvPr/>
        </p:nvSpPr>
        <p:spPr>
          <a:xfrm>
            <a:off x="14935320" y="3848040"/>
            <a:ext cx="2437920" cy="6195960"/>
          </a:xfrm>
          <a:prstGeom prst="roundRect">
            <a:avLst>
              <a:gd name="adj" fmla="val 16667"/>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en-ID" sz="1800" strike="noStrike" u="none">
                <a:solidFill>
                  <a:schemeClr val="lt1"/>
                </a:solidFill>
                <a:effectLst/>
                <a:uFillTx/>
                <a:latin typeface="Calibri"/>
              </a:rPr>
              <a:t>Retensi Karyawan</a:t>
            </a:r>
            <a:r>
              <a:rPr b="0" lang="en-ID" sz="1800" strike="noStrike" u="none">
                <a:solidFill>
                  <a:schemeClr val="lt1"/>
                </a:solidFill>
                <a:effectLst/>
                <a:uFillTx/>
                <a:latin typeface="Calibri"/>
              </a:rPr>
              <a:t> </a:t>
            </a:r>
            <a:r>
              <a:rPr b="0" i="1" lang="en-ID" sz="1800" strike="noStrike" u="none">
                <a:solidFill>
                  <a:schemeClr val="lt1"/>
                </a:solidFill>
                <a:effectLst/>
                <a:uFillTx/>
                <a:latin typeface="Calibri"/>
              </a:rPr>
              <a:t>(Dependen)</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Definisi: strategi mempertahankan tenaga kerja kompeten (Lockwood, 2007; Reiningsih Reke et al., 2023).</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Faktor: budaya kerja, peluang karir, penghargaan, desain pekerjaan, hubungan kerja.</a:t>
            </a:r>
            <a:endParaRPr b="0" lang="en-US" sz="1800" strike="noStrike" u="none">
              <a:solidFill>
                <a:srgbClr val="ffffff"/>
              </a:solidFill>
              <a:effectLst/>
              <a:uFillTx/>
              <a:latin typeface="Arial"/>
            </a:endParaRPr>
          </a:p>
          <a:p>
            <a:pPr indent="-216000" defTabSz="914400">
              <a:lnSpc>
                <a:spcPct val="100000"/>
              </a:lnSpc>
              <a:buClr>
                <a:srgbClr val="ffffff"/>
              </a:buClr>
              <a:buFont typeface="Arial"/>
              <a:buChar char="•"/>
            </a:pPr>
            <a:r>
              <a:rPr b="0" lang="en-ID" sz="1800" strike="noStrike" u="none">
                <a:solidFill>
                  <a:schemeClr val="lt1"/>
                </a:solidFill>
                <a:effectLst/>
                <a:uFillTx/>
                <a:latin typeface="Calibri"/>
              </a:rPr>
              <a:t>Indikator: peluang karir, penghargaan, hubungan kerja.</a:t>
            </a:r>
            <a:endParaRPr b="0" lang="en-US" sz="1800" strike="noStrike" u="none">
              <a:solidFill>
                <a:srgbClr val="ffffff"/>
              </a:solidFill>
              <a:effectLst/>
              <a:uFillTx/>
              <a:latin typeface="Arial"/>
            </a:endParaRPr>
          </a:p>
          <a:p>
            <a:pPr algn="ctr" defTabSz="914400">
              <a:lnSpc>
                <a:spcPct val="100000"/>
              </a:lnSpc>
            </a:pPr>
            <a:endParaRPr b="0" lang="en-US" sz="1800" strike="noStrike" u="none">
              <a:solidFill>
                <a:srgbClr val="ffffff"/>
              </a:solidFill>
              <a:effectLst/>
              <a:uFillTx/>
              <a:latin typeface="Arial"/>
            </a:endParaRPr>
          </a:p>
        </p:txBody>
      </p:sp>
      <p:sp>
        <p:nvSpPr>
          <p:cNvPr id="383" name="Arrow: Right 43"/>
          <p:cNvSpPr/>
          <p:nvPr/>
        </p:nvSpPr>
        <p:spPr>
          <a:xfrm>
            <a:off x="2664720" y="1326960"/>
            <a:ext cx="4038120" cy="1912320"/>
          </a:xfrm>
          <a:prstGeom prst="rightArrow">
            <a:avLst>
              <a:gd name="adj1" fmla="val 50000"/>
              <a:gd name="adj2" fmla="val 50000"/>
            </a:avLst>
          </a:prstGeom>
          <a:solidFill>
            <a:srgbClr val="4f81bd"/>
          </a:solidFill>
          <a:ln>
            <a:solidFill>
              <a:srgbClr val="ffff00"/>
            </a:solidFill>
            <a:round/>
          </a:ln>
          <a:scene3d>
            <a:camera prst="orthographicFront"/>
            <a:lightRig dir="t" rig="threePt"/>
          </a:scene3d>
          <a:sp3d>
            <a:bevelT prst="relaxedInset"/>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ts val="3240"/>
              </a:lnSpc>
            </a:pPr>
            <a:r>
              <a:rPr b="1" lang="en-US" sz="2000" strike="noStrike" u="none">
                <a:solidFill>
                  <a:srgbClr val="000000"/>
                </a:solidFill>
                <a:effectLst/>
                <a:uFillTx/>
                <a:latin typeface="Abadi"/>
                <a:ea typeface="Arial"/>
              </a:rPr>
              <a:t>Landasan Teori/Underlying Theory</a:t>
            </a:r>
            <a:r>
              <a:rPr b="0" lang="en-US" sz="2000" strike="noStrike" u="none">
                <a:solidFill>
                  <a:srgbClr val="000000"/>
                </a:solidFill>
                <a:effectLst/>
                <a:uFillTx/>
                <a:latin typeface="Abadi"/>
                <a:ea typeface="Arial"/>
              </a:rPr>
              <a:t>  </a:t>
            </a:r>
            <a:endParaRPr b="0" lang="en-US" sz="2000" strike="noStrike" u="none">
              <a:solidFill>
                <a:srgbClr val="ffffff"/>
              </a:solidFill>
              <a:effectLst/>
              <a:uFillTx/>
              <a:latin typeface="Arial"/>
            </a:endParaRPr>
          </a:p>
        </p:txBody>
      </p:sp>
      <p:sp>
        <p:nvSpPr>
          <p:cNvPr id="384" name="Rectangle 50"/>
          <p:cNvSpPr/>
          <p:nvPr/>
        </p:nvSpPr>
        <p:spPr>
          <a:xfrm>
            <a:off x="11631240" y="2595600"/>
            <a:ext cx="6046920" cy="90036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solidFill>
                <a:effectLst/>
                <a:uFillTx/>
                <a:latin typeface="Calibri"/>
              </a:rPr>
              <a:t>Affective (Butuh), Continuance (Mau) &amp;Normative (Harus)</a:t>
            </a:r>
            <a:endParaRPr b="0" lang="en-US" sz="1800" strike="noStrike" u="none">
              <a:solidFill>
                <a:srgbClr val="000000"/>
              </a:solidFill>
              <a:effectLst/>
              <a:uFillTx/>
              <a:latin typeface="Arial"/>
            </a:endParaRPr>
          </a:p>
        </p:txBody>
      </p:sp>
      <p:cxnSp>
        <p:nvCxnSpPr>
          <p:cNvPr id="385" name="Straight Arrow Connector 52"/>
          <p:cNvCxnSpPr>
            <a:stCxn id="377" idx="3"/>
          </p:cNvCxnSpPr>
          <p:nvPr/>
        </p:nvCxnSpPr>
        <p:spPr>
          <a:xfrm>
            <a:off x="10743840" y="3067560"/>
            <a:ext cx="762480" cy="360"/>
          </a:xfrm>
          <a:prstGeom prst="straightConnector1">
            <a:avLst/>
          </a:prstGeom>
          <a:ln>
            <a:solidFill>
              <a:srgbClr val="4a7ebb"/>
            </a:solidFill>
            <a:round/>
            <a:tailEnd len="med" type="triangle" w="med"/>
          </a:ln>
        </p:spPr>
      </p:cxnSp>
      <p:sp>
        <p:nvSpPr>
          <p:cNvPr id="386" name="Rectangle 53"/>
          <p:cNvSpPr/>
          <p:nvPr/>
        </p:nvSpPr>
        <p:spPr>
          <a:xfrm>
            <a:off x="11638080" y="1478160"/>
            <a:ext cx="6039720" cy="90036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solidFill>
                <a:effectLst/>
                <a:uFillTx/>
                <a:latin typeface="Calibri"/>
              </a:rPr>
              <a:t>Reward, Cost, CL,CLA, </a:t>
            </a:r>
            <a:r>
              <a:rPr b="0" lang="en-ID" sz="1800" strike="noStrike" u="none">
                <a:solidFill>
                  <a:schemeClr val="dk1"/>
                </a:solidFill>
                <a:effectLst/>
                <a:uFillTx/>
                <a:latin typeface="Calibri"/>
              </a:rPr>
              <a:t>Reciprocity Norm</a:t>
            </a:r>
            <a:endParaRPr b="0" lang="en-US" sz="1800" strike="noStrike" u="none">
              <a:solidFill>
                <a:srgbClr val="000000"/>
              </a:solidFill>
              <a:effectLst/>
              <a:uFillTx/>
              <a:latin typeface="Arial"/>
            </a:endParaRPr>
          </a:p>
        </p:txBody>
      </p:sp>
      <p:cxnSp>
        <p:nvCxnSpPr>
          <p:cNvPr id="387" name="Straight Arrow Connector 54"/>
          <p:cNvCxnSpPr/>
          <p:nvPr/>
        </p:nvCxnSpPr>
        <p:spPr>
          <a:xfrm flipV="1">
            <a:off x="10667880" y="1937160"/>
            <a:ext cx="806760" cy="4320"/>
          </a:xfrm>
          <a:prstGeom prst="straightConnector1">
            <a:avLst/>
          </a:prstGeom>
          <a:ln>
            <a:solidFill>
              <a:srgbClr val="4a7ebb"/>
            </a:solidFill>
            <a:round/>
            <a:tailEnd len="med" type="triangle" w="med"/>
          </a:ln>
        </p:spPr>
      </p:cxn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88" name="Group 2"/>
          <p:cNvGrpSpPr/>
          <p:nvPr/>
        </p:nvGrpSpPr>
        <p:grpSpPr>
          <a:xfrm>
            <a:off x="21600" y="8652240"/>
            <a:ext cx="18265680" cy="1634400"/>
            <a:chOff x="21600" y="8652240"/>
            <a:chExt cx="18265680" cy="1634400"/>
          </a:xfrm>
        </p:grpSpPr>
        <p:sp>
          <p:nvSpPr>
            <p:cNvPr id="389"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390" name="Group 4"/>
          <p:cNvGrpSpPr/>
          <p:nvPr/>
        </p:nvGrpSpPr>
        <p:grpSpPr>
          <a:xfrm>
            <a:off x="16480800" y="27360"/>
            <a:ext cx="1746000" cy="1662840"/>
            <a:chOff x="16480800" y="27360"/>
            <a:chExt cx="1746000" cy="1662840"/>
          </a:xfrm>
        </p:grpSpPr>
        <p:sp>
          <p:nvSpPr>
            <p:cNvPr id="391" name="Freeform 5"/>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392" name="AutoShape 6"/>
          <p:cNvSpPr/>
          <p:nvPr/>
        </p:nvSpPr>
        <p:spPr>
          <a:xfrm>
            <a:off x="474840" y="128448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393" name="Group 7"/>
          <p:cNvGrpSpPr/>
          <p:nvPr/>
        </p:nvGrpSpPr>
        <p:grpSpPr>
          <a:xfrm>
            <a:off x="17441640" y="9310320"/>
            <a:ext cx="702720" cy="734400"/>
            <a:chOff x="17441640" y="9310320"/>
            <a:chExt cx="702720" cy="734400"/>
          </a:xfrm>
        </p:grpSpPr>
        <p:sp>
          <p:nvSpPr>
            <p:cNvPr id="394" name="Freeform 8"/>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95" name="Freeform 9"/>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396" name="Group 10"/>
          <p:cNvGrpSpPr/>
          <p:nvPr/>
        </p:nvGrpSpPr>
        <p:grpSpPr>
          <a:xfrm>
            <a:off x="13032360" y="9413640"/>
            <a:ext cx="3756600" cy="592200"/>
            <a:chOff x="13032360" y="9413640"/>
            <a:chExt cx="3756600" cy="592200"/>
          </a:xfrm>
        </p:grpSpPr>
        <p:sp>
          <p:nvSpPr>
            <p:cNvPr id="397" name="Freeform 11"/>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398" name="TextBox 12"/>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399" name="Group 13"/>
          <p:cNvGrpSpPr/>
          <p:nvPr/>
        </p:nvGrpSpPr>
        <p:grpSpPr>
          <a:xfrm>
            <a:off x="17480520" y="9324000"/>
            <a:ext cx="615960" cy="644760"/>
            <a:chOff x="17480520" y="9324000"/>
            <a:chExt cx="615960" cy="644760"/>
          </a:xfrm>
        </p:grpSpPr>
        <p:sp>
          <p:nvSpPr>
            <p:cNvPr id="400" name="Freeform 14"/>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01" name="TextBox 15"/>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402" name="Group 16"/>
          <p:cNvGrpSpPr/>
          <p:nvPr/>
        </p:nvGrpSpPr>
        <p:grpSpPr>
          <a:xfrm>
            <a:off x="630720" y="9568800"/>
            <a:ext cx="1172520" cy="585000"/>
            <a:chOff x="630720" y="9568800"/>
            <a:chExt cx="1172520" cy="585000"/>
          </a:xfrm>
        </p:grpSpPr>
        <p:sp>
          <p:nvSpPr>
            <p:cNvPr id="403" name="Freeform 17"/>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04" name="TextBox 18"/>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405" name="Group 19"/>
          <p:cNvGrpSpPr/>
          <p:nvPr/>
        </p:nvGrpSpPr>
        <p:grpSpPr>
          <a:xfrm>
            <a:off x="503640" y="9540360"/>
            <a:ext cx="456840" cy="485280"/>
            <a:chOff x="503640" y="9540360"/>
            <a:chExt cx="456840" cy="485280"/>
          </a:xfrm>
        </p:grpSpPr>
        <p:sp>
          <p:nvSpPr>
            <p:cNvPr id="406" name="Freeform 20"/>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07" name="Group 21"/>
            <p:cNvGrpSpPr/>
            <p:nvPr/>
          </p:nvGrpSpPr>
          <p:grpSpPr>
            <a:xfrm>
              <a:off x="503640" y="9540360"/>
              <a:ext cx="456840" cy="485280"/>
              <a:chOff x="503640" y="9540360"/>
              <a:chExt cx="456840" cy="485280"/>
            </a:xfrm>
          </p:grpSpPr>
          <p:sp>
            <p:nvSpPr>
              <p:cNvPr id="408" name="Freeform 22"/>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09" name="TextBox 23"/>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410" name="Group 24"/>
          <p:cNvGrpSpPr/>
          <p:nvPr/>
        </p:nvGrpSpPr>
        <p:grpSpPr>
          <a:xfrm>
            <a:off x="1989360" y="9540360"/>
            <a:ext cx="456840" cy="485280"/>
            <a:chOff x="1989360" y="9540360"/>
            <a:chExt cx="456840" cy="485280"/>
          </a:xfrm>
        </p:grpSpPr>
        <p:sp>
          <p:nvSpPr>
            <p:cNvPr id="411" name="Freeform 25"/>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12" name="Group 26"/>
            <p:cNvGrpSpPr/>
            <p:nvPr/>
          </p:nvGrpSpPr>
          <p:grpSpPr>
            <a:xfrm>
              <a:off x="1989360" y="9540360"/>
              <a:ext cx="456840" cy="485280"/>
              <a:chOff x="1989360" y="9540360"/>
              <a:chExt cx="456840" cy="485280"/>
            </a:xfrm>
          </p:grpSpPr>
          <p:sp>
            <p:nvSpPr>
              <p:cNvPr id="413" name="Freeform 27"/>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14" name="TextBox 28"/>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415" name="Group 29"/>
          <p:cNvGrpSpPr/>
          <p:nvPr/>
        </p:nvGrpSpPr>
        <p:grpSpPr>
          <a:xfrm>
            <a:off x="816480" y="9554760"/>
            <a:ext cx="665280" cy="471240"/>
            <a:chOff x="816480" y="9554760"/>
            <a:chExt cx="665280" cy="471240"/>
          </a:xfrm>
        </p:grpSpPr>
        <p:sp>
          <p:nvSpPr>
            <p:cNvPr id="416" name="Freeform 30"/>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17" name="Group 31"/>
            <p:cNvGrpSpPr/>
            <p:nvPr/>
          </p:nvGrpSpPr>
          <p:grpSpPr>
            <a:xfrm>
              <a:off x="816480" y="9554760"/>
              <a:ext cx="665280" cy="471240"/>
              <a:chOff x="816480" y="9554760"/>
              <a:chExt cx="665280" cy="471240"/>
            </a:xfrm>
          </p:grpSpPr>
          <p:sp>
            <p:nvSpPr>
              <p:cNvPr id="418" name="Freeform 32"/>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19" name="TextBox 33"/>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420" name="Group 34"/>
          <p:cNvGrpSpPr/>
          <p:nvPr/>
        </p:nvGrpSpPr>
        <p:grpSpPr>
          <a:xfrm>
            <a:off x="1460880" y="9554760"/>
            <a:ext cx="665280" cy="471240"/>
            <a:chOff x="1460880" y="9554760"/>
            <a:chExt cx="665280" cy="471240"/>
          </a:xfrm>
        </p:grpSpPr>
        <p:sp>
          <p:nvSpPr>
            <p:cNvPr id="421" name="Freeform 35"/>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22" name="Group 36"/>
            <p:cNvGrpSpPr/>
            <p:nvPr/>
          </p:nvGrpSpPr>
          <p:grpSpPr>
            <a:xfrm>
              <a:off x="1460880" y="9554760"/>
              <a:ext cx="665280" cy="471240"/>
              <a:chOff x="1460880" y="9554760"/>
              <a:chExt cx="665280" cy="471240"/>
            </a:xfrm>
          </p:grpSpPr>
          <p:sp>
            <p:nvSpPr>
              <p:cNvPr id="423" name="Freeform 37"/>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24" name="TextBox 38"/>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sp>
        <p:nvSpPr>
          <p:cNvPr id="425" name="TextBox 39"/>
          <p:cNvSpPr/>
          <p:nvPr/>
        </p:nvSpPr>
        <p:spPr>
          <a:xfrm>
            <a:off x="9037800" y="1544400"/>
            <a:ext cx="7027560" cy="410760"/>
          </a:xfrm>
          <a:prstGeom prst="rect">
            <a:avLst/>
          </a:prstGeom>
          <a:noFill/>
          <a:ln w="0">
            <a:noFill/>
          </a:ln>
        </p:spPr>
        <p:style>
          <a:lnRef idx="0"/>
          <a:fillRef idx="0"/>
          <a:effectRef idx="0"/>
          <a:fontRef idx="minor"/>
        </p:style>
        <p:txBody>
          <a:bodyPr lIns="0" rIns="0" tIns="0" bIns="0" anchor="t">
            <a:spAutoFit/>
          </a:bodyPr>
          <a:p>
            <a:pPr defTabSz="914400">
              <a:lnSpc>
                <a:spcPts val="3240"/>
              </a:lnSpc>
            </a:pPr>
            <a:r>
              <a:rPr b="1" lang="en-US" sz="2700" strike="noStrike" u="none">
                <a:solidFill>
                  <a:srgbClr val="000000"/>
                </a:solidFill>
                <a:effectLst/>
                <a:uFillTx/>
                <a:latin typeface="Abadi"/>
                <a:ea typeface="Calibri (MS) Bold"/>
              </a:rPr>
              <a:t>HIPOTESIS PENELITIAN</a:t>
            </a:r>
            <a:endParaRPr b="0" lang="en-US" sz="2700" strike="noStrike" u="none">
              <a:solidFill>
                <a:srgbClr val="000000"/>
              </a:solidFill>
              <a:effectLst/>
              <a:uFillTx/>
              <a:latin typeface="Arial"/>
            </a:endParaRPr>
          </a:p>
        </p:txBody>
      </p:sp>
      <p:sp>
        <p:nvSpPr>
          <p:cNvPr id="426" name="TextBox 41"/>
          <p:cNvSpPr/>
          <p:nvPr/>
        </p:nvSpPr>
        <p:spPr>
          <a:xfrm>
            <a:off x="522720" y="1483200"/>
            <a:ext cx="6106320" cy="410760"/>
          </a:xfrm>
          <a:prstGeom prst="rect">
            <a:avLst/>
          </a:prstGeom>
          <a:noFill/>
          <a:ln w="0">
            <a:noFill/>
          </a:ln>
        </p:spPr>
        <p:style>
          <a:lnRef idx="0"/>
          <a:fillRef idx="0"/>
          <a:effectRef idx="0"/>
          <a:fontRef idx="minor"/>
        </p:style>
        <p:txBody>
          <a:bodyPr lIns="0" rIns="0" tIns="0" bIns="0" anchor="t">
            <a:spAutoFit/>
          </a:bodyPr>
          <a:p>
            <a:pPr defTabSz="914400">
              <a:lnSpc>
                <a:spcPts val="3240"/>
              </a:lnSpc>
            </a:pPr>
            <a:r>
              <a:rPr b="1" lang="en-US" sz="2700" strike="noStrike" u="none">
                <a:solidFill>
                  <a:srgbClr val="000000"/>
                </a:solidFill>
                <a:effectLst/>
                <a:uFillTx/>
                <a:latin typeface="Abadi"/>
                <a:ea typeface="Calibri (MS) Bold"/>
              </a:rPr>
              <a:t>KERANGKA PENELITIAN </a:t>
            </a:r>
            <a:endParaRPr b="0" lang="en-US" sz="2700" strike="noStrike" u="none">
              <a:solidFill>
                <a:srgbClr val="000000"/>
              </a:solidFill>
              <a:effectLst/>
              <a:uFillTx/>
              <a:latin typeface="Arial"/>
            </a:endParaRPr>
          </a:p>
        </p:txBody>
      </p:sp>
      <p:grpSp>
        <p:nvGrpSpPr>
          <p:cNvPr id="427" name="Group 42"/>
          <p:cNvGrpSpPr/>
          <p:nvPr/>
        </p:nvGrpSpPr>
        <p:grpSpPr>
          <a:xfrm>
            <a:off x="503640" y="114480"/>
            <a:ext cx="15977160" cy="1164960"/>
            <a:chOff x="503640" y="114480"/>
            <a:chExt cx="15977160" cy="1164960"/>
          </a:xfrm>
        </p:grpSpPr>
        <p:sp>
          <p:nvSpPr>
            <p:cNvPr id="428" name="Freeform 43"/>
            <p:cNvSpPr/>
            <p:nvPr/>
          </p:nvSpPr>
          <p:spPr>
            <a:xfrm>
              <a:off x="503640" y="18576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29" name="TextBox 44"/>
            <p:cNvSpPr/>
            <p:nvPr/>
          </p:nvSpPr>
          <p:spPr>
            <a:xfrm>
              <a:off x="503640" y="114480"/>
              <a:ext cx="15977160" cy="1164960"/>
            </a:xfrm>
            <a:prstGeom prst="rect">
              <a:avLst/>
            </a:prstGeom>
            <a:noFill/>
            <a:ln w="0">
              <a:noFill/>
            </a:ln>
          </p:spPr>
          <p:style>
            <a:lnRef idx="0"/>
            <a:fillRef idx="0"/>
            <a:effectRef idx="0"/>
            <a:fontRef idx="minor"/>
          </p:style>
          <p:txBody>
            <a:bodyPr lIns="0" rIns="0" tIns="0" bIns="0" anchor="ctr">
              <a:noAutofit/>
            </a:bodyPr>
            <a:p>
              <a:pPr defTabSz="914400">
                <a:lnSpc>
                  <a:spcPts val="3283"/>
                </a:lnSpc>
              </a:pPr>
              <a:endParaRPr b="0" lang="en-US" sz="2400" strike="noStrike" u="none">
                <a:solidFill>
                  <a:srgbClr val="000000"/>
                </a:solidFill>
                <a:effectLst/>
                <a:uFillTx/>
                <a:latin typeface="Arial"/>
              </a:endParaRPr>
            </a:p>
            <a:p>
              <a:pPr algn="ctr" defTabSz="914400">
                <a:lnSpc>
                  <a:spcPts val="3283"/>
                </a:lnSpc>
              </a:pPr>
              <a:r>
                <a:rPr b="0" lang="en-US" sz="2400" spc="-136" strike="noStrike" u="none">
                  <a:solidFill>
                    <a:srgbClr val="c00000"/>
                  </a:solidFill>
                  <a:effectLst/>
                  <a:uFillTx/>
                  <a:latin typeface="Georgia"/>
                  <a:ea typeface="Bodoni FLF"/>
                </a:rPr>
                <a:t>Pengaruh Kepuasan Kerja, Budaya Organisasi dan Motivasi Terhadap Retensi Karyawan Dengan Kompensasi Sebagai Variabel Pemoderasi</a:t>
              </a:r>
              <a:endParaRPr b="0" lang="en-US" sz="2400" strike="noStrike" u="none">
                <a:solidFill>
                  <a:srgbClr val="000000"/>
                </a:solidFill>
                <a:effectLst/>
                <a:uFillTx/>
                <a:latin typeface="Arial"/>
              </a:endParaRPr>
            </a:p>
            <a:p>
              <a:pPr algn="ctr" defTabSz="914400">
                <a:lnSpc>
                  <a:spcPts val="3283"/>
                </a:lnSpc>
              </a:pPr>
              <a:r>
                <a:rPr b="0" lang="en-US" sz="2400" spc="-136" strike="noStrike" u="none">
                  <a:solidFill>
                    <a:srgbClr val="c00000"/>
                  </a:solidFill>
                  <a:effectLst/>
                  <a:uFillTx/>
                  <a:latin typeface="Georgia"/>
                  <a:ea typeface="Bodoni FLF"/>
                </a:rPr>
                <a:t> (Studi Pada PT. Eloda Mitra)</a:t>
              </a:r>
              <a:endParaRPr b="0" lang="en-US" sz="2400" strike="noStrike" u="none">
                <a:solidFill>
                  <a:srgbClr val="000000"/>
                </a:solidFill>
                <a:effectLst/>
                <a:uFillTx/>
                <a:latin typeface="Arial"/>
              </a:endParaRPr>
            </a:p>
            <a:p>
              <a:pPr defTabSz="914400">
                <a:lnSpc>
                  <a:spcPts val="3283"/>
                </a:lnSpc>
              </a:pPr>
              <a:endParaRPr b="0" lang="en-US" sz="2400" strike="noStrike" u="none">
                <a:solidFill>
                  <a:srgbClr val="000000"/>
                </a:solidFill>
                <a:effectLst/>
                <a:uFillTx/>
                <a:latin typeface="Arial"/>
              </a:endParaRPr>
            </a:p>
          </p:txBody>
        </p:sp>
      </p:grpSp>
      <p:sp>
        <p:nvSpPr>
          <p:cNvPr id="430" name="TextBox 39"/>
          <p:cNvSpPr/>
          <p:nvPr/>
        </p:nvSpPr>
        <p:spPr>
          <a:xfrm>
            <a:off x="8534520" y="2518200"/>
            <a:ext cx="9550080" cy="6991920"/>
          </a:xfrm>
          <a:prstGeom prst="rect">
            <a:avLst/>
          </a:prstGeom>
          <a:noFill/>
          <a:ln w="0">
            <a:noFill/>
          </a:ln>
        </p:spPr>
        <p:style>
          <a:lnRef idx="0"/>
          <a:fillRef idx="0"/>
          <a:effectRef idx="0"/>
          <a:fontRef idx="minor"/>
        </p:style>
        <p:txBody>
          <a:bodyPr lIns="0" rIns="0" tIns="0" bIns="0" anchor="t">
            <a:spAutoFit/>
          </a:bodyPr>
          <a:p>
            <a:pPr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Ringkasan hipotesis penelitian dari peneliti adalah sebagai berikut:</a:t>
            </a:r>
            <a:endParaRPr b="0" lang="en-US" sz="2000" strike="noStrike" u="none">
              <a:solidFill>
                <a:srgbClr val="000000"/>
              </a:solidFill>
              <a:effectLst/>
              <a:uFillTx/>
              <a:latin typeface="Arial"/>
            </a:endParaRPr>
          </a:p>
          <a:p>
            <a:pPr marL="270360" indent="-270360" algn="just"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H1: Kepuasan kerja berpengaruh signifikan positif terhadap retensi karyawan pada PT. Eloda Mitra</a:t>
            </a:r>
            <a:endParaRPr b="0" lang="en-US" sz="2000" strike="noStrike" u="none">
              <a:solidFill>
                <a:srgbClr val="000000"/>
              </a:solidFill>
              <a:effectLst/>
              <a:uFillTx/>
              <a:latin typeface="Arial"/>
            </a:endParaRPr>
          </a:p>
          <a:p>
            <a:pPr marL="270360" indent="-270360" algn="just"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H2: Budaya organisasi berpengaruh signifikan positif terhadap retensi karyawan pada PT. Eloda Mitra</a:t>
            </a:r>
            <a:endParaRPr b="0" lang="en-US" sz="2000" strike="noStrike" u="none">
              <a:solidFill>
                <a:srgbClr val="000000"/>
              </a:solidFill>
              <a:effectLst/>
              <a:uFillTx/>
              <a:latin typeface="Arial"/>
            </a:endParaRPr>
          </a:p>
          <a:p>
            <a:pPr marL="270360" indent="-270360" algn="just"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H3: Motivasi kerja berpengaruh signifikan positif terhadap retensi karyawan pada PT. Eloda Mitra</a:t>
            </a:r>
            <a:endParaRPr b="0" lang="en-US" sz="2000" strike="noStrike" u="none">
              <a:solidFill>
                <a:srgbClr val="000000"/>
              </a:solidFill>
              <a:effectLst/>
              <a:uFillTx/>
              <a:latin typeface="Arial"/>
            </a:endParaRPr>
          </a:p>
          <a:p>
            <a:pPr marL="270360" indent="-270360" algn="just"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H4: Kompensasi berpengaruh signifikan positif terhadap retensi karyawan pada PT. Eloda Mitra</a:t>
            </a:r>
            <a:endParaRPr b="0" lang="en-US" sz="2000" strike="noStrike" u="none">
              <a:solidFill>
                <a:srgbClr val="000000"/>
              </a:solidFill>
              <a:effectLst/>
              <a:uFillTx/>
              <a:latin typeface="Arial"/>
            </a:endParaRPr>
          </a:p>
          <a:p>
            <a:pPr marL="270360" indent="-270360" algn="just"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H5: Kompensasi dapat memoderasi pengaruh signifikan kepuasan kerja terhadap retensi karyawan pada PT. Eloda Mitra</a:t>
            </a:r>
            <a:endParaRPr b="0" lang="en-US" sz="2000" strike="noStrike" u="none">
              <a:solidFill>
                <a:srgbClr val="000000"/>
              </a:solidFill>
              <a:effectLst/>
              <a:uFillTx/>
              <a:latin typeface="Arial"/>
            </a:endParaRPr>
          </a:p>
          <a:p>
            <a:pPr marL="270360" indent="-270360" algn="just"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H6: Kompensasi dapat memoderasi pengaruh signifikan budaya organisasi terhadap retensi karyawan pada PT. Eloda Mitra</a:t>
            </a:r>
            <a:endParaRPr b="0" lang="en-US" sz="2000" strike="noStrike" u="none">
              <a:solidFill>
                <a:srgbClr val="000000"/>
              </a:solidFill>
              <a:effectLst/>
              <a:uFillTx/>
              <a:latin typeface="Arial"/>
            </a:endParaRPr>
          </a:p>
          <a:p>
            <a:pPr marL="270360" indent="-270360" algn="just" defTabSz="914400">
              <a:lnSpc>
                <a:spcPct val="107000"/>
              </a:lnSpc>
              <a:spcAft>
                <a:spcPts val="799"/>
              </a:spcAft>
              <a:tabLst>
                <a:tab algn="l" pos="0"/>
              </a:tabLst>
            </a:pPr>
            <a:r>
              <a:rPr b="0" lang="it-IT" sz="2000" strike="noStrike" u="none">
                <a:solidFill>
                  <a:schemeClr val="dk1"/>
                </a:solidFill>
                <a:effectLst/>
                <a:uFillTx/>
                <a:latin typeface="Times New Roman"/>
                <a:ea typeface="Calibri"/>
              </a:rPr>
              <a:t>H7: Kompensasi dapat memoderasi pengaruh signifikan motivasi kerja terhadap retensi karyawan pada PT. Eloda Mitra</a:t>
            </a:r>
            <a:endParaRPr b="0" lang="en-US" sz="2000" strike="noStrike" u="none">
              <a:solidFill>
                <a:srgbClr val="000000"/>
              </a:solidFill>
              <a:effectLst/>
              <a:uFillTx/>
              <a:latin typeface="Arial"/>
            </a:endParaRPr>
          </a:p>
          <a:p>
            <a:pPr defTabSz="914400">
              <a:lnSpc>
                <a:spcPts val="3240"/>
              </a:lnSpc>
              <a:tabLst>
                <a:tab algn="l" pos="0"/>
              </a:tabLst>
            </a:pPr>
            <a:endParaRPr b="0" lang="en-US" sz="1800" strike="noStrike" u="none">
              <a:solidFill>
                <a:srgbClr val="000000"/>
              </a:solidFill>
              <a:effectLst/>
              <a:uFillTx/>
              <a:latin typeface="Arial"/>
            </a:endParaRPr>
          </a:p>
          <a:p>
            <a:pPr defTabSz="914400">
              <a:lnSpc>
                <a:spcPts val="3240"/>
              </a:lnSpc>
              <a:tabLst>
                <a:tab algn="l" pos="0"/>
              </a:tabLst>
            </a:pPr>
            <a:endParaRPr b="0" lang="en-US" sz="1800" strike="noStrike" u="none">
              <a:solidFill>
                <a:srgbClr val="000000"/>
              </a:solidFill>
              <a:effectLst/>
              <a:uFillTx/>
              <a:latin typeface="Arial"/>
            </a:endParaRPr>
          </a:p>
          <a:p>
            <a:pPr defTabSz="914400">
              <a:lnSpc>
                <a:spcPts val="3240"/>
              </a:lnSpc>
              <a:tabLst>
                <a:tab algn="l" pos="0"/>
              </a:tabLst>
            </a:pPr>
            <a:endParaRPr b="0" lang="en-US" sz="2700" strike="noStrike" u="none">
              <a:solidFill>
                <a:srgbClr val="000000"/>
              </a:solidFill>
              <a:effectLst/>
              <a:uFillTx/>
              <a:latin typeface="Arial"/>
            </a:endParaRPr>
          </a:p>
        </p:txBody>
      </p:sp>
      <p:pic>
        <p:nvPicPr>
          <p:cNvPr id="431" name="Picture 39" descr=""/>
          <p:cNvPicPr/>
          <p:nvPr/>
        </p:nvPicPr>
        <p:blipFill>
          <a:blip r:embed="rId11"/>
          <a:srcRect l="0" t="10335" r="0" b="13319"/>
          <a:stretch/>
        </p:blipFill>
        <p:spPr>
          <a:xfrm>
            <a:off x="522720" y="1960200"/>
            <a:ext cx="7808400" cy="64310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32" name="Group 3"/>
          <p:cNvGrpSpPr/>
          <p:nvPr/>
        </p:nvGrpSpPr>
        <p:grpSpPr>
          <a:xfrm>
            <a:off x="21600" y="8652240"/>
            <a:ext cx="18265680" cy="1634400"/>
            <a:chOff x="21600" y="8652240"/>
            <a:chExt cx="18265680" cy="1634400"/>
          </a:xfrm>
        </p:grpSpPr>
        <p:sp>
          <p:nvSpPr>
            <p:cNvPr id="433" name="Freeform 4"/>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434" name="Group 5"/>
          <p:cNvGrpSpPr/>
          <p:nvPr/>
        </p:nvGrpSpPr>
        <p:grpSpPr>
          <a:xfrm>
            <a:off x="16480800" y="27360"/>
            <a:ext cx="1746000" cy="1662840"/>
            <a:chOff x="16480800" y="27360"/>
            <a:chExt cx="1746000" cy="1662840"/>
          </a:xfrm>
        </p:grpSpPr>
        <p:sp>
          <p:nvSpPr>
            <p:cNvPr id="435" name="Freeform 6"/>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436" name="AutoShape 7"/>
          <p:cNvSpPr/>
          <p:nvPr/>
        </p:nvSpPr>
        <p:spPr>
          <a:xfrm>
            <a:off x="474840" y="128448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437" name="Group 8"/>
          <p:cNvGrpSpPr/>
          <p:nvPr/>
        </p:nvGrpSpPr>
        <p:grpSpPr>
          <a:xfrm>
            <a:off x="17441640" y="9310320"/>
            <a:ext cx="702720" cy="734400"/>
            <a:chOff x="17441640" y="9310320"/>
            <a:chExt cx="702720" cy="734400"/>
          </a:xfrm>
        </p:grpSpPr>
        <p:sp>
          <p:nvSpPr>
            <p:cNvPr id="438" name="Freeform 9"/>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39" name="Freeform 10"/>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440" name="Group 11"/>
          <p:cNvGrpSpPr/>
          <p:nvPr/>
        </p:nvGrpSpPr>
        <p:grpSpPr>
          <a:xfrm>
            <a:off x="13032360" y="9413640"/>
            <a:ext cx="3756600" cy="592200"/>
            <a:chOff x="13032360" y="9413640"/>
            <a:chExt cx="3756600" cy="592200"/>
          </a:xfrm>
        </p:grpSpPr>
        <p:sp>
          <p:nvSpPr>
            <p:cNvPr id="441" name="Freeform 12"/>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42" name="TextBox 13"/>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443" name="Group 14"/>
          <p:cNvGrpSpPr/>
          <p:nvPr/>
        </p:nvGrpSpPr>
        <p:grpSpPr>
          <a:xfrm>
            <a:off x="17480520" y="9324000"/>
            <a:ext cx="615960" cy="644760"/>
            <a:chOff x="17480520" y="9324000"/>
            <a:chExt cx="615960" cy="644760"/>
          </a:xfrm>
        </p:grpSpPr>
        <p:sp>
          <p:nvSpPr>
            <p:cNvPr id="444" name="Freeform 15"/>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45" name="TextBox 16"/>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446" name="Group 17"/>
          <p:cNvGrpSpPr/>
          <p:nvPr/>
        </p:nvGrpSpPr>
        <p:grpSpPr>
          <a:xfrm>
            <a:off x="630720" y="9568800"/>
            <a:ext cx="1172520" cy="585000"/>
            <a:chOff x="630720" y="9568800"/>
            <a:chExt cx="1172520" cy="585000"/>
          </a:xfrm>
        </p:grpSpPr>
        <p:sp>
          <p:nvSpPr>
            <p:cNvPr id="447" name="Freeform 18"/>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48" name="TextBox 19"/>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449" name="Group 20"/>
          <p:cNvGrpSpPr/>
          <p:nvPr/>
        </p:nvGrpSpPr>
        <p:grpSpPr>
          <a:xfrm>
            <a:off x="503640" y="9540360"/>
            <a:ext cx="456840" cy="485280"/>
            <a:chOff x="503640" y="9540360"/>
            <a:chExt cx="456840" cy="485280"/>
          </a:xfrm>
        </p:grpSpPr>
        <p:sp>
          <p:nvSpPr>
            <p:cNvPr id="450" name="Freeform 21"/>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51" name="Group 22"/>
            <p:cNvGrpSpPr/>
            <p:nvPr/>
          </p:nvGrpSpPr>
          <p:grpSpPr>
            <a:xfrm>
              <a:off x="503640" y="9540360"/>
              <a:ext cx="456840" cy="485280"/>
              <a:chOff x="503640" y="9540360"/>
              <a:chExt cx="456840" cy="485280"/>
            </a:xfrm>
          </p:grpSpPr>
          <p:sp>
            <p:nvSpPr>
              <p:cNvPr id="452" name="Freeform 23"/>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53" name="TextBox 24"/>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454" name="Group 25"/>
          <p:cNvGrpSpPr/>
          <p:nvPr/>
        </p:nvGrpSpPr>
        <p:grpSpPr>
          <a:xfrm>
            <a:off x="1989360" y="9540360"/>
            <a:ext cx="456840" cy="485280"/>
            <a:chOff x="1989360" y="9540360"/>
            <a:chExt cx="456840" cy="485280"/>
          </a:xfrm>
        </p:grpSpPr>
        <p:sp>
          <p:nvSpPr>
            <p:cNvPr id="455" name="Freeform 26"/>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56" name="Group 27"/>
            <p:cNvGrpSpPr/>
            <p:nvPr/>
          </p:nvGrpSpPr>
          <p:grpSpPr>
            <a:xfrm>
              <a:off x="1989360" y="9540360"/>
              <a:ext cx="456840" cy="485280"/>
              <a:chOff x="1989360" y="9540360"/>
              <a:chExt cx="456840" cy="485280"/>
            </a:xfrm>
          </p:grpSpPr>
          <p:sp>
            <p:nvSpPr>
              <p:cNvPr id="457" name="Freeform 28"/>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58" name="TextBox 29"/>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459" name="Group 30"/>
          <p:cNvGrpSpPr/>
          <p:nvPr/>
        </p:nvGrpSpPr>
        <p:grpSpPr>
          <a:xfrm>
            <a:off x="816480" y="9554760"/>
            <a:ext cx="665280" cy="471240"/>
            <a:chOff x="816480" y="9554760"/>
            <a:chExt cx="665280" cy="471240"/>
          </a:xfrm>
        </p:grpSpPr>
        <p:sp>
          <p:nvSpPr>
            <p:cNvPr id="460" name="Freeform 31"/>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61" name="Group 32"/>
            <p:cNvGrpSpPr/>
            <p:nvPr/>
          </p:nvGrpSpPr>
          <p:grpSpPr>
            <a:xfrm>
              <a:off x="816480" y="9554760"/>
              <a:ext cx="665280" cy="471240"/>
              <a:chOff x="816480" y="9554760"/>
              <a:chExt cx="665280" cy="471240"/>
            </a:xfrm>
          </p:grpSpPr>
          <p:sp>
            <p:nvSpPr>
              <p:cNvPr id="462" name="Freeform 33"/>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63" name="TextBox 34"/>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464" name="Group 35"/>
          <p:cNvGrpSpPr/>
          <p:nvPr/>
        </p:nvGrpSpPr>
        <p:grpSpPr>
          <a:xfrm>
            <a:off x="1460880" y="9554760"/>
            <a:ext cx="665280" cy="471240"/>
            <a:chOff x="1460880" y="9554760"/>
            <a:chExt cx="665280" cy="471240"/>
          </a:xfrm>
        </p:grpSpPr>
        <p:sp>
          <p:nvSpPr>
            <p:cNvPr id="465" name="Freeform 36"/>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66" name="Group 37"/>
            <p:cNvGrpSpPr/>
            <p:nvPr/>
          </p:nvGrpSpPr>
          <p:grpSpPr>
            <a:xfrm>
              <a:off x="1460880" y="9554760"/>
              <a:ext cx="665280" cy="471240"/>
              <a:chOff x="1460880" y="9554760"/>
              <a:chExt cx="665280" cy="471240"/>
            </a:xfrm>
          </p:grpSpPr>
          <p:sp>
            <p:nvSpPr>
              <p:cNvPr id="467" name="Freeform 38"/>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68" name="TextBox 39"/>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sp>
        <p:nvSpPr>
          <p:cNvPr id="469" name="Freeform 41"/>
          <p:cNvSpPr/>
          <p:nvPr/>
        </p:nvSpPr>
        <p:spPr>
          <a:xfrm>
            <a:off x="503640" y="22860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70" name="TextBox 43"/>
          <p:cNvSpPr/>
          <p:nvPr/>
        </p:nvSpPr>
        <p:spPr>
          <a:xfrm>
            <a:off x="745920" y="1744200"/>
            <a:ext cx="9787320" cy="7536600"/>
          </a:xfrm>
          <a:prstGeom prst="rect">
            <a:avLst/>
          </a:prstGeom>
          <a:noFill/>
          <a:ln w="0">
            <a:noFill/>
          </a:ln>
        </p:spPr>
        <p:style>
          <a:lnRef idx="0"/>
          <a:fillRef idx="0"/>
          <a:effectRef idx="0"/>
          <a:fontRef idx="minor"/>
        </p:style>
        <p:txBody>
          <a:bodyPr lIns="0" rIns="0" tIns="0" bIns="0" anchor="t">
            <a:spAutoFit/>
          </a:bodyPr>
          <a:p>
            <a:pPr defTabSz="914400">
              <a:lnSpc>
                <a:spcPts val="2701"/>
              </a:lnSpc>
            </a:pPr>
            <a:r>
              <a:rPr b="1" lang="en-US" sz="2400" strike="noStrike" u="none">
                <a:solidFill>
                  <a:srgbClr val="000000"/>
                </a:solidFill>
                <a:effectLst/>
                <a:uFillTx/>
                <a:latin typeface="Abadi"/>
                <a:ea typeface="Arial"/>
              </a:rPr>
              <a:t>METODE PENELITIAN</a:t>
            </a:r>
            <a:endParaRPr b="0" lang="en-US" sz="2400" strike="noStrike" u="none">
              <a:solidFill>
                <a:srgbClr val="000000"/>
              </a:solidFill>
              <a:effectLst/>
              <a:uFillTx/>
              <a:latin typeface="Arial"/>
            </a:endParaRPr>
          </a:p>
          <a:p>
            <a:pPr marL="343080" indent="-343080" defTabSz="914400">
              <a:lnSpc>
                <a:spcPts val="2701"/>
              </a:lnSpc>
              <a:buClr>
                <a:srgbClr val="000000"/>
              </a:buClr>
              <a:buFont typeface="Wingdings" charset="2"/>
              <a:buChar char=""/>
            </a:pPr>
            <a:r>
              <a:rPr b="0" lang="en-US" sz="2400" strike="noStrike" u="none">
                <a:solidFill>
                  <a:srgbClr val="000000"/>
                </a:solidFill>
                <a:effectLst/>
                <a:uFillTx/>
                <a:latin typeface="Calibri"/>
                <a:ea typeface="Arial Bold"/>
              </a:rPr>
              <a:t>Pendekatan Penelitian:</a:t>
            </a:r>
            <a:r>
              <a:rPr b="0" lang="en-US" sz="2400" strike="noStrike" u="none">
                <a:solidFill>
                  <a:srgbClr val="000000"/>
                </a:solidFill>
                <a:effectLst/>
                <a:uFillTx/>
                <a:latin typeface="Calibri"/>
                <a:ea typeface="Arial"/>
              </a:rPr>
              <a:t> Kuantitatif</a:t>
            </a:r>
            <a:endParaRPr b="0" lang="en-US" sz="2400" strike="noStrike" u="none">
              <a:solidFill>
                <a:srgbClr val="000000"/>
              </a:solidFill>
              <a:effectLst/>
              <a:uFillTx/>
              <a:latin typeface="Arial"/>
            </a:endParaRPr>
          </a:p>
          <a:p>
            <a:pPr marL="343080" indent="-343080" defTabSz="914400">
              <a:lnSpc>
                <a:spcPts val="2701"/>
              </a:lnSpc>
              <a:buClr>
                <a:srgbClr val="000000"/>
              </a:buClr>
              <a:buFont typeface="Wingdings" charset="2"/>
              <a:buChar char=""/>
            </a:pPr>
            <a:r>
              <a:rPr b="0" lang="en-US" sz="2400" strike="noStrike" u="none">
                <a:solidFill>
                  <a:srgbClr val="000000"/>
                </a:solidFill>
                <a:effectLst/>
                <a:uFillTx/>
                <a:latin typeface="Calibri"/>
                <a:ea typeface="Arial Bold"/>
              </a:rPr>
              <a:t>Teknik Pengumpulan data:</a:t>
            </a:r>
            <a:r>
              <a:rPr b="0" lang="en-US" sz="2400" strike="noStrike" u="none">
                <a:solidFill>
                  <a:srgbClr val="000000"/>
                </a:solidFill>
                <a:effectLst/>
                <a:uFillTx/>
                <a:latin typeface="Calibri"/>
                <a:ea typeface="Arial"/>
              </a:rPr>
              <a:t> Kuesioner</a:t>
            </a:r>
            <a:endParaRPr b="0" lang="en-US" sz="2400" strike="noStrike" u="none">
              <a:solidFill>
                <a:srgbClr val="000000"/>
              </a:solidFill>
              <a:effectLst/>
              <a:uFillTx/>
              <a:latin typeface="Arial"/>
            </a:endParaRPr>
          </a:p>
          <a:p>
            <a:pPr marL="343080" indent="-343080" defTabSz="914400">
              <a:lnSpc>
                <a:spcPts val="2701"/>
              </a:lnSpc>
              <a:buClr>
                <a:srgbClr val="000000"/>
              </a:buClr>
              <a:buFont typeface="Wingdings" charset="2"/>
              <a:buChar char=""/>
            </a:pPr>
            <a:r>
              <a:rPr b="0" lang="en-US" sz="2400" strike="noStrike" u="none">
                <a:solidFill>
                  <a:srgbClr val="000000"/>
                </a:solidFill>
                <a:effectLst/>
                <a:uFillTx/>
                <a:latin typeface="Calibri"/>
                <a:ea typeface="Open Sans Bold"/>
              </a:rPr>
              <a:t>Metode Pemilihan Sample: </a:t>
            </a:r>
            <a:r>
              <a:rPr b="0" lang="en-US" sz="2400" strike="noStrike" u="none">
                <a:solidFill>
                  <a:schemeClr val="dk1"/>
                </a:solidFill>
                <a:effectLst/>
                <a:uFillTx/>
                <a:latin typeface="Calibri"/>
                <a:ea typeface="Open Sans Bold"/>
              </a:rPr>
              <a:t>Metode pemilihan sampel pada penelitian ini menggunakan purposive sampling, yaitu teknik penentuan sampel berdasarkan pertimbangan dan kriteria tertentu yang relevan dengan tujuan penelitian.</a:t>
            </a:r>
            <a:endParaRPr b="0" lang="en-US" sz="2400" strike="noStrike" u="none">
              <a:solidFill>
                <a:srgbClr val="000000"/>
              </a:solidFill>
              <a:effectLst/>
              <a:uFillTx/>
              <a:latin typeface="Arial"/>
            </a:endParaRPr>
          </a:p>
          <a:p>
            <a:pPr marL="343080" indent="-343080" defTabSz="914400">
              <a:lnSpc>
                <a:spcPct val="100000"/>
              </a:lnSpc>
              <a:buClr>
                <a:srgbClr val="000000"/>
              </a:buClr>
              <a:buFont typeface="Wingdings" charset="2"/>
              <a:buChar char=""/>
            </a:pPr>
            <a:r>
              <a:rPr b="0" lang="en-US" sz="2400" strike="noStrike" u="none">
                <a:solidFill>
                  <a:schemeClr val="dk1"/>
                </a:solidFill>
                <a:effectLst/>
                <a:uFillTx/>
                <a:latin typeface="Calibri"/>
                <a:ea typeface="Open Sans Bold"/>
              </a:rPr>
              <a:t>Kriteria responden yang ditetapkan:</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Calibri"/>
                <a:ea typeface="Times New Roman"/>
              </a:rPr>
              <a:t>Merupakan karyawan</a:t>
            </a:r>
            <a:r>
              <a:rPr b="1" lang="en-ID" sz="2400" strike="noStrike" u="none">
                <a:solidFill>
                  <a:schemeClr val="dk1"/>
                </a:solidFill>
                <a:effectLst/>
                <a:uFillTx/>
                <a:latin typeface="Calibri"/>
                <a:ea typeface="Times New Roman"/>
              </a:rPr>
              <a:t> </a:t>
            </a:r>
            <a:r>
              <a:rPr b="0" lang="en-ID" sz="2400" strike="noStrike" u="none">
                <a:solidFill>
                  <a:schemeClr val="dk1"/>
                </a:solidFill>
                <a:effectLst/>
                <a:uFillTx/>
                <a:latin typeface="Calibri"/>
                <a:ea typeface="Times New Roman"/>
              </a:rPr>
              <a:t>di</a:t>
            </a:r>
            <a:r>
              <a:rPr b="1" lang="en-ID" sz="2400" strike="noStrike" u="none">
                <a:solidFill>
                  <a:schemeClr val="dk1"/>
                </a:solidFill>
                <a:effectLst/>
                <a:uFillTx/>
                <a:latin typeface="Calibri"/>
                <a:ea typeface="Times New Roman"/>
              </a:rPr>
              <a:t> </a:t>
            </a:r>
            <a:r>
              <a:rPr b="0" lang="en-ID" sz="2400" strike="noStrike" u="none">
                <a:solidFill>
                  <a:schemeClr val="dk1"/>
                </a:solidFill>
                <a:effectLst/>
                <a:uFillTx/>
                <a:latin typeface="Calibri"/>
                <a:ea typeface="Times New Roman"/>
              </a:rPr>
              <a:t>PT. Eloda Mitra yang beroperasi di Cabang DC Tangerang (Jabodetabek Branch).</a:t>
            </a:r>
            <a:endParaRPr b="0" lang="en-US" sz="2400" strike="noStrike" u="none">
              <a:solidFill>
                <a:srgbClr val="000000"/>
              </a:solidFill>
              <a:effectLst/>
              <a:uFillTx/>
              <a:latin typeface="Arial"/>
            </a:endParaRPr>
          </a:p>
          <a:p>
            <a:pPr marL="343080" indent="-343080" algn="just" defTabSz="914400">
              <a:lnSpc>
                <a:spcPct val="107000"/>
              </a:lnSpc>
              <a:buClr>
                <a:srgbClr val="000000"/>
              </a:buClr>
              <a:buFont typeface="Calibri"/>
              <a:buAutoNum type="arabicPeriod"/>
            </a:pPr>
            <a:r>
              <a:rPr b="0" lang="en-ID" sz="2400" strike="noStrike" u="none">
                <a:solidFill>
                  <a:schemeClr val="dk1"/>
                </a:solidFill>
                <a:effectLst/>
                <a:uFillTx/>
                <a:latin typeface="Calibri"/>
                <a:ea typeface="Times New Roman"/>
              </a:rPr>
              <a:t>Merupakan karyawan dengan status pekerja tetap di PT. </a:t>
            </a:r>
            <a:r>
              <a:rPr b="0" lang="it-IT" sz="2400" strike="noStrike" u="none">
                <a:solidFill>
                  <a:schemeClr val="dk1"/>
                </a:solidFill>
                <a:effectLst/>
                <a:uFillTx/>
                <a:latin typeface="Calibri"/>
                <a:ea typeface="Times New Roman"/>
              </a:rPr>
              <a:t>Eloda Mitra.</a:t>
            </a:r>
            <a:endParaRPr b="0" lang="en-US" sz="2400" strike="noStrike" u="none">
              <a:solidFill>
                <a:srgbClr val="000000"/>
              </a:solidFill>
              <a:effectLst/>
              <a:uFillTx/>
              <a:latin typeface="Arial"/>
            </a:endParaRPr>
          </a:p>
          <a:p>
            <a:pPr marL="343080" indent="-343080" algn="just" defTabSz="914400">
              <a:lnSpc>
                <a:spcPct val="107000"/>
              </a:lnSpc>
              <a:spcAft>
                <a:spcPts val="799"/>
              </a:spcAft>
              <a:buClr>
                <a:srgbClr val="000000"/>
              </a:buClr>
              <a:buFont typeface="Calibri"/>
              <a:buAutoNum type="arabicPeriod"/>
            </a:pPr>
            <a:r>
              <a:rPr b="0" lang="en-ID" sz="2400" strike="noStrike" u="none">
                <a:solidFill>
                  <a:schemeClr val="dk1"/>
                </a:solidFill>
                <a:effectLst/>
                <a:uFillTx/>
                <a:latin typeface="Calibri"/>
                <a:ea typeface="Times New Roman"/>
              </a:rPr>
              <a:t>Merupakan karyawan dengan masa kerja 5 tahun ke atas.</a:t>
            </a:r>
            <a:endParaRPr b="0" lang="en-US" sz="2400" strike="noStrike" u="none">
              <a:solidFill>
                <a:srgbClr val="000000"/>
              </a:solidFill>
              <a:effectLst/>
              <a:uFillTx/>
              <a:latin typeface="Arial"/>
            </a:endParaRPr>
          </a:p>
          <a:p>
            <a:pPr algn="just" defTabSz="914400">
              <a:lnSpc>
                <a:spcPct val="107000"/>
              </a:lnSpc>
              <a:spcAft>
                <a:spcPts val="799"/>
              </a:spcAft>
              <a:tabLst>
                <a:tab algn="l" pos="0"/>
              </a:tabLst>
            </a:pPr>
            <a:r>
              <a:rPr b="0" lang="en-ID" sz="2400" strike="noStrike" u="none">
                <a:solidFill>
                  <a:schemeClr val="dk1"/>
                </a:solidFill>
                <a:effectLst/>
                <a:uFillTx/>
                <a:latin typeface="Calibri"/>
                <a:ea typeface="Times New Roman"/>
              </a:rPr>
              <a:t>Pemilihan kriteria karyawan ≥ 5 tahun masa kerja karena: </a:t>
            </a:r>
            <a:endParaRPr b="0" lang="en-US" sz="2400" strike="noStrike" u="none">
              <a:solidFill>
                <a:srgbClr val="000000"/>
              </a:solidFill>
              <a:effectLst/>
              <a:uFillTx/>
              <a:latin typeface="Arial"/>
            </a:endParaRPr>
          </a:p>
          <a:p>
            <a:pPr marL="343080" indent="-343080" algn="just" defTabSz="914400">
              <a:lnSpc>
                <a:spcPct val="100000"/>
              </a:lnSpc>
              <a:buClr>
                <a:srgbClr val="000000"/>
              </a:buClr>
              <a:buFont typeface="Arial"/>
              <a:buChar char="•"/>
              <a:tabLst>
                <a:tab algn="l" pos="457200"/>
              </a:tabLst>
            </a:pPr>
            <a:r>
              <a:rPr b="0" lang="en-ID" sz="2400" strike="noStrike" u="none">
                <a:solidFill>
                  <a:srgbClr val="000000"/>
                </a:solidFill>
                <a:effectLst/>
                <a:uFillTx/>
                <a:latin typeface="Calibri"/>
                <a:ea typeface="Times New Roman"/>
              </a:rPr>
              <a:t>Merepresentasikan 88% populasi PT. Eloda Mitra </a:t>
            </a:r>
            <a:endParaRPr b="0" lang="en-US" sz="2400" strike="noStrike" u="none">
              <a:solidFill>
                <a:srgbClr val="000000"/>
              </a:solidFill>
              <a:effectLst/>
              <a:uFillTx/>
              <a:latin typeface="Arial"/>
            </a:endParaRPr>
          </a:p>
          <a:p>
            <a:pPr marL="343080" indent="-343080" algn="just" defTabSz="914400">
              <a:lnSpc>
                <a:spcPct val="100000"/>
              </a:lnSpc>
              <a:buClr>
                <a:srgbClr val="000000"/>
              </a:buClr>
              <a:buFont typeface="Arial"/>
              <a:buChar char="•"/>
              <a:tabLst>
                <a:tab algn="l" pos="457200"/>
              </a:tabLst>
            </a:pPr>
            <a:r>
              <a:rPr b="0" lang="en-ID" sz="2400" strike="noStrike" u="none">
                <a:solidFill>
                  <a:srgbClr val="000000"/>
                </a:solidFill>
                <a:effectLst/>
                <a:uFillTx/>
                <a:latin typeface="Calibri"/>
                <a:ea typeface="Times New Roman"/>
              </a:rPr>
              <a:t>Memiliki pengalaman cukup untuk menilai dampak jangka panjang kebijakan retensi.</a:t>
            </a:r>
            <a:endParaRPr b="0" lang="en-US" sz="2400" strike="noStrike" u="none">
              <a:solidFill>
                <a:srgbClr val="000000"/>
              </a:solidFill>
              <a:effectLst/>
              <a:uFillTx/>
              <a:latin typeface="Arial"/>
            </a:endParaRPr>
          </a:p>
          <a:p>
            <a:pPr marL="343080" indent="-343080" algn="just" defTabSz="914400">
              <a:lnSpc>
                <a:spcPct val="100000"/>
              </a:lnSpc>
              <a:buClr>
                <a:srgbClr val="000000"/>
              </a:buClr>
              <a:buFont typeface="Arial"/>
              <a:buChar char="•"/>
              <a:tabLst>
                <a:tab algn="l" pos="457200"/>
              </a:tabLst>
            </a:pPr>
            <a:r>
              <a:rPr b="0" lang="en-ID" sz="2400" strike="noStrike" u="none">
                <a:solidFill>
                  <a:srgbClr val="000000"/>
                </a:solidFill>
                <a:effectLst/>
                <a:uFillTx/>
                <a:latin typeface="Calibri"/>
                <a:ea typeface="Times New Roman"/>
              </a:rPr>
              <a:t>Mengurangi bias dari karyawan baru yang mungkin belum terpapar budaya organisasi secara mendalam.</a:t>
            </a:r>
            <a:endParaRPr b="0" lang="en-US" sz="2400" strike="noStrike" u="none">
              <a:solidFill>
                <a:srgbClr val="000000"/>
              </a:solidFill>
              <a:effectLst/>
              <a:uFillTx/>
              <a:latin typeface="Arial"/>
            </a:endParaRPr>
          </a:p>
          <a:p>
            <a:pPr defTabSz="914400">
              <a:lnSpc>
                <a:spcPct val="100000"/>
              </a:lnSpc>
              <a:tabLst>
                <a:tab algn="l" pos="457200"/>
              </a:tabLst>
            </a:pPr>
            <a:endParaRPr b="0" lang="en-US" sz="2400" strike="noStrike" u="none">
              <a:solidFill>
                <a:srgbClr val="000000"/>
              </a:solidFill>
              <a:effectLst/>
              <a:uFillTx/>
              <a:latin typeface="Arial"/>
            </a:endParaRPr>
          </a:p>
          <a:p>
            <a:pPr algn="just" defTabSz="914400">
              <a:lnSpc>
                <a:spcPts val="2701"/>
              </a:lnSpc>
              <a:tabLst>
                <a:tab algn="l" pos="457200"/>
              </a:tabLst>
            </a:pPr>
            <a:endParaRPr b="0" lang="en-US" sz="2400" strike="noStrike" u="none">
              <a:solidFill>
                <a:srgbClr val="000000"/>
              </a:solidFill>
              <a:effectLst/>
              <a:uFillTx/>
              <a:latin typeface="Arial"/>
            </a:endParaRPr>
          </a:p>
        </p:txBody>
      </p:sp>
      <p:grpSp>
        <p:nvGrpSpPr>
          <p:cNvPr id="471" name="Group 42"/>
          <p:cNvGrpSpPr/>
          <p:nvPr/>
        </p:nvGrpSpPr>
        <p:grpSpPr>
          <a:xfrm>
            <a:off x="503640" y="114480"/>
            <a:ext cx="15977160" cy="1164960"/>
            <a:chOff x="503640" y="114480"/>
            <a:chExt cx="15977160" cy="1164960"/>
          </a:xfrm>
        </p:grpSpPr>
        <p:sp>
          <p:nvSpPr>
            <p:cNvPr id="472" name="Freeform 43"/>
            <p:cNvSpPr/>
            <p:nvPr/>
          </p:nvSpPr>
          <p:spPr>
            <a:xfrm>
              <a:off x="503640" y="18576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73" name="TextBox 44"/>
            <p:cNvSpPr/>
            <p:nvPr/>
          </p:nvSpPr>
          <p:spPr>
            <a:xfrm>
              <a:off x="503640" y="114480"/>
              <a:ext cx="15977160" cy="1164960"/>
            </a:xfrm>
            <a:prstGeom prst="rect">
              <a:avLst/>
            </a:prstGeom>
            <a:noFill/>
            <a:ln w="0">
              <a:noFill/>
            </a:ln>
          </p:spPr>
          <p:style>
            <a:lnRef idx="0"/>
            <a:fillRef idx="0"/>
            <a:effectRef idx="0"/>
            <a:fontRef idx="minor"/>
          </p:style>
          <p:txBody>
            <a:bodyPr lIns="0" rIns="0" tIns="0" bIns="0" anchor="ctr">
              <a:noAutofit/>
            </a:bodyPr>
            <a:p>
              <a:pPr algn="ctr" defTabSz="914400">
                <a:lnSpc>
                  <a:spcPts val="3283"/>
                </a:lnSpc>
              </a:pPr>
              <a:r>
                <a:rPr b="0" lang="en-US" sz="2000" spc="-136" strike="noStrike" u="none">
                  <a:solidFill>
                    <a:srgbClr val="c00000"/>
                  </a:solidFill>
                  <a:effectLst/>
                  <a:uFillTx/>
                  <a:latin typeface="Georgia"/>
                  <a:ea typeface="Bodoni FLF"/>
                </a:rPr>
                <a:t>Pengaruh Kepuasan Kerja, Budaya Organisasi dan Motivasi Terhadap Retensi Karyawan Dengan Kompensasi Sebagai Variabel Pemoderasi</a:t>
              </a:r>
              <a:endParaRPr b="0" lang="en-US" sz="2000" strike="noStrike" u="none">
                <a:solidFill>
                  <a:srgbClr val="000000"/>
                </a:solidFill>
                <a:effectLst/>
                <a:uFillTx/>
                <a:latin typeface="Arial"/>
              </a:endParaRPr>
            </a:p>
            <a:p>
              <a:pPr algn="ctr" defTabSz="914400">
                <a:lnSpc>
                  <a:spcPts val="3283"/>
                </a:lnSpc>
              </a:pPr>
              <a:r>
                <a:rPr b="0" lang="en-US" sz="2000" spc="-136" strike="noStrike" u="none">
                  <a:solidFill>
                    <a:srgbClr val="c00000"/>
                  </a:solidFill>
                  <a:effectLst/>
                  <a:uFillTx/>
                  <a:latin typeface="Georgia"/>
                  <a:ea typeface="Bodoni FLF"/>
                </a:rPr>
                <a:t> (Studi Pada PT. Eloda Mitra)</a:t>
              </a:r>
              <a:endParaRPr b="0" lang="en-US" sz="2000" strike="noStrike" u="none">
                <a:solidFill>
                  <a:srgbClr val="000000"/>
                </a:solidFill>
                <a:effectLst/>
                <a:uFillTx/>
                <a:latin typeface="Arial"/>
              </a:endParaRPr>
            </a:p>
          </p:txBody>
        </p:sp>
      </p:grpSp>
      <p:pic>
        <p:nvPicPr>
          <p:cNvPr id="474" name="Picture 7167" descr=""/>
          <p:cNvPicPr/>
          <p:nvPr/>
        </p:nvPicPr>
        <p:blipFill>
          <a:blip r:embed="rId11"/>
          <a:stretch/>
        </p:blipFill>
        <p:spPr>
          <a:xfrm>
            <a:off x="10744200" y="2026080"/>
            <a:ext cx="7238520" cy="6161400"/>
          </a:xfrm>
          <a:prstGeom prst="rect">
            <a:avLst/>
          </a:prstGeom>
          <a:noFill/>
          <a:ln w="0">
            <a:noFill/>
          </a:ln>
          <a:effectLst>
            <a:softEdge rad="112680"/>
          </a:effectLst>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75" name="Group 3"/>
          <p:cNvGrpSpPr/>
          <p:nvPr/>
        </p:nvGrpSpPr>
        <p:grpSpPr>
          <a:xfrm>
            <a:off x="21600" y="8652240"/>
            <a:ext cx="18265680" cy="1634400"/>
            <a:chOff x="21600" y="8652240"/>
            <a:chExt cx="18265680" cy="1634400"/>
          </a:xfrm>
        </p:grpSpPr>
        <p:sp>
          <p:nvSpPr>
            <p:cNvPr id="476" name="Freeform 4"/>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477" name="Group 5"/>
          <p:cNvGrpSpPr/>
          <p:nvPr/>
        </p:nvGrpSpPr>
        <p:grpSpPr>
          <a:xfrm>
            <a:off x="16480800" y="27360"/>
            <a:ext cx="1746000" cy="1662840"/>
            <a:chOff x="16480800" y="27360"/>
            <a:chExt cx="1746000" cy="1662840"/>
          </a:xfrm>
        </p:grpSpPr>
        <p:sp>
          <p:nvSpPr>
            <p:cNvPr id="478" name="Freeform 6"/>
            <p:cNvSpPr/>
            <p:nvPr/>
          </p:nvSpPr>
          <p:spPr>
            <a:xfrm>
              <a:off x="16480800" y="273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479" name="AutoShape 7"/>
          <p:cNvSpPr/>
          <p:nvPr/>
        </p:nvSpPr>
        <p:spPr>
          <a:xfrm>
            <a:off x="474840" y="1284480"/>
            <a:ext cx="15200280" cy="63720"/>
          </a:xfrm>
          <a:prstGeom prst="line">
            <a:avLst/>
          </a:prstGeom>
          <a:ln cap="rnd" w="28575">
            <a:solidFill>
              <a:srgbClr val="c00000"/>
            </a:solidFill>
            <a:round/>
          </a:ln>
        </p:spPr>
        <p:style>
          <a:lnRef idx="0"/>
          <a:fillRef idx="0"/>
          <a:effectRef idx="0"/>
          <a:fontRef idx="minor"/>
        </p:style>
        <p:txBody>
          <a:bodyPr lIns="90000" rIns="90000" tIns="18720" bIns="18720" anchor="t">
            <a:noAutofit/>
          </a:bodyPr>
          <a:p>
            <a:endParaRPr b="0" lang="en-ID" sz="1800" strike="noStrike" u="none">
              <a:solidFill>
                <a:schemeClr val="dk1"/>
              </a:solidFill>
              <a:effectLst/>
              <a:uFillTx/>
              <a:latin typeface="Calibri"/>
            </a:endParaRPr>
          </a:p>
        </p:txBody>
      </p:sp>
      <p:grpSp>
        <p:nvGrpSpPr>
          <p:cNvPr id="480" name="Group 8"/>
          <p:cNvGrpSpPr/>
          <p:nvPr/>
        </p:nvGrpSpPr>
        <p:grpSpPr>
          <a:xfrm>
            <a:off x="17441640" y="9310320"/>
            <a:ext cx="702720" cy="734400"/>
            <a:chOff x="17441640" y="9310320"/>
            <a:chExt cx="702720" cy="734400"/>
          </a:xfrm>
        </p:grpSpPr>
        <p:sp>
          <p:nvSpPr>
            <p:cNvPr id="481" name="Freeform 9"/>
            <p:cNvSpPr/>
            <p:nvPr/>
          </p:nvSpPr>
          <p:spPr>
            <a:xfrm>
              <a:off x="17460720" y="9329400"/>
              <a:ext cx="664560" cy="696240"/>
            </a:xfrm>
            <a:custGeom>
              <a:avLst/>
              <a:gdLst>
                <a:gd name="textAreaLeft" fmla="*/ 0 w 664560"/>
                <a:gd name="textAreaRight" fmla="*/ 664920 w 664560"/>
                <a:gd name="textAreaTop" fmla="*/ 0 h 696240"/>
                <a:gd name="textAreaBottom" fmla="*/ 696600 h 696240"/>
              </a:gdLst>
              <a:ahLst/>
              <a:cxnLst/>
              <a:rect l="textAreaLeft" t="textAreaTop" r="textAreaRight" b="textAreaBottom"/>
              <a:pathLst>
                <a:path w="886714" h="928878">
                  <a:moveTo>
                    <a:pt x="0" y="464439"/>
                  </a:moveTo>
                  <a:cubicBezTo>
                    <a:pt x="0" y="207899"/>
                    <a:pt x="198501" y="0"/>
                    <a:pt x="443357" y="0"/>
                  </a:cubicBezTo>
                  <a:cubicBezTo>
                    <a:pt x="688213" y="0"/>
                    <a:pt x="886714" y="207899"/>
                    <a:pt x="886714" y="464439"/>
                  </a:cubicBezTo>
                  <a:cubicBezTo>
                    <a:pt x="886714" y="720979"/>
                    <a:pt x="688213" y="928878"/>
                    <a:pt x="443357" y="928878"/>
                  </a:cubicBezTo>
                  <a:cubicBezTo>
                    <a:pt x="198501" y="928878"/>
                    <a:pt x="0" y="720979"/>
                    <a:pt x="0" y="464439"/>
                  </a:cubicBezTo>
                  <a:close/>
                </a:path>
              </a:pathLst>
            </a:cu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82" name="Freeform 10"/>
            <p:cNvSpPr/>
            <p:nvPr/>
          </p:nvSpPr>
          <p:spPr>
            <a:xfrm>
              <a:off x="17441640" y="9310320"/>
              <a:ext cx="702720" cy="734400"/>
            </a:xfrm>
            <a:custGeom>
              <a:avLst/>
              <a:gdLst>
                <a:gd name="textAreaLeft" fmla="*/ 0 w 702720"/>
                <a:gd name="textAreaRight" fmla="*/ 703080 w 702720"/>
                <a:gd name="textAreaTop" fmla="*/ 0 h 734400"/>
                <a:gd name="textAreaBottom" fmla="*/ 734760 h 734400"/>
              </a:gdLst>
              <a:ahLst/>
              <a:cxnLst/>
              <a:rect l="textAreaLeft" t="textAreaTop" r="textAreaRight" b="textAreaBottom"/>
              <a:pathLst>
                <a:path w="937514" h="979678">
                  <a:moveTo>
                    <a:pt x="0" y="489839"/>
                  </a:moveTo>
                  <a:cubicBezTo>
                    <a:pt x="0" y="220472"/>
                    <a:pt x="208788" y="0"/>
                    <a:pt x="468757" y="0"/>
                  </a:cubicBezTo>
                  <a:lnTo>
                    <a:pt x="468757" y="25400"/>
                  </a:lnTo>
                  <a:lnTo>
                    <a:pt x="468757" y="0"/>
                  </a:lnTo>
                  <a:cubicBezTo>
                    <a:pt x="728726" y="0"/>
                    <a:pt x="937514" y="220472"/>
                    <a:pt x="937514" y="489839"/>
                  </a:cubicBezTo>
                  <a:cubicBezTo>
                    <a:pt x="937514" y="759206"/>
                    <a:pt x="728726" y="979678"/>
                    <a:pt x="468757" y="979678"/>
                  </a:cubicBezTo>
                  <a:lnTo>
                    <a:pt x="468757" y="954278"/>
                  </a:lnTo>
                  <a:lnTo>
                    <a:pt x="468757" y="979678"/>
                  </a:lnTo>
                  <a:cubicBezTo>
                    <a:pt x="208788" y="979678"/>
                    <a:pt x="0" y="759333"/>
                    <a:pt x="0" y="489839"/>
                  </a:cubicBezTo>
                  <a:lnTo>
                    <a:pt x="25400" y="489839"/>
                  </a:lnTo>
                  <a:lnTo>
                    <a:pt x="46990" y="503301"/>
                  </a:lnTo>
                  <a:cubicBezTo>
                    <a:pt x="41021" y="512953"/>
                    <a:pt x="29337" y="517398"/>
                    <a:pt x="18415" y="514223"/>
                  </a:cubicBezTo>
                  <a:cubicBezTo>
                    <a:pt x="7493" y="511048"/>
                    <a:pt x="0" y="501142"/>
                    <a:pt x="0" y="489839"/>
                  </a:cubicBezTo>
                  <a:moveTo>
                    <a:pt x="50800" y="489839"/>
                  </a:moveTo>
                  <a:lnTo>
                    <a:pt x="25400" y="489839"/>
                  </a:lnTo>
                  <a:lnTo>
                    <a:pt x="3810" y="476377"/>
                  </a:lnTo>
                  <a:cubicBezTo>
                    <a:pt x="9779" y="466725"/>
                    <a:pt x="21463" y="462280"/>
                    <a:pt x="32385" y="465455"/>
                  </a:cubicBezTo>
                  <a:cubicBezTo>
                    <a:pt x="43307" y="468630"/>
                    <a:pt x="50800" y="478536"/>
                    <a:pt x="50800" y="489839"/>
                  </a:cubicBezTo>
                  <a:cubicBezTo>
                    <a:pt x="50800" y="733425"/>
                    <a:pt x="239014" y="928878"/>
                    <a:pt x="468757" y="928878"/>
                  </a:cubicBezTo>
                  <a:cubicBezTo>
                    <a:pt x="698500" y="928878"/>
                    <a:pt x="886714" y="733425"/>
                    <a:pt x="886714" y="489839"/>
                  </a:cubicBezTo>
                  <a:lnTo>
                    <a:pt x="912114" y="489839"/>
                  </a:lnTo>
                  <a:lnTo>
                    <a:pt x="886714" y="489839"/>
                  </a:lnTo>
                  <a:cubicBezTo>
                    <a:pt x="886714" y="246253"/>
                    <a:pt x="698500" y="50800"/>
                    <a:pt x="468757" y="50800"/>
                  </a:cubicBezTo>
                  <a:lnTo>
                    <a:pt x="468757" y="25400"/>
                  </a:lnTo>
                  <a:lnTo>
                    <a:pt x="468757" y="50800"/>
                  </a:lnTo>
                  <a:cubicBezTo>
                    <a:pt x="239014" y="50800"/>
                    <a:pt x="50800" y="246253"/>
                    <a:pt x="50800" y="489839"/>
                  </a:cubicBezTo>
                  <a:close/>
                </a:path>
              </a:pathLst>
            </a:custGeom>
            <a:solidFill>
              <a:srgbClr val="cf543f"/>
            </a:solid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483" name="Group 11"/>
          <p:cNvGrpSpPr/>
          <p:nvPr/>
        </p:nvGrpSpPr>
        <p:grpSpPr>
          <a:xfrm>
            <a:off x="13032360" y="9413640"/>
            <a:ext cx="3756600" cy="592200"/>
            <a:chOff x="13032360" y="9413640"/>
            <a:chExt cx="3756600" cy="592200"/>
          </a:xfrm>
        </p:grpSpPr>
        <p:sp>
          <p:nvSpPr>
            <p:cNvPr id="484" name="Freeform 12"/>
            <p:cNvSpPr/>
            <p:nvPr/>
          </p:nvSpPr>
          <p:spPr>
            <a:xfrm>
              <a:off x="13032360" y="9420840"/>
              <a:ext cx="3756600" cy="585000"/>
            </a:xfrm>
            <a:custGeom>
              <a:avLst/>
              <a:gdLst>
                <a:gd name="textAreaLeft" fmla="*/ 0 w 3756600"/>
                <a:gd name="textAreaRight" fmla="*/ 3756960 w 3756600"/>
                <a:gd name="textAreaTop" fmla="*/ 0 h 585000"/>
                <a:gd name="textAreaBottom" fmla="*/ 585360 h 585000"/>
              </a:gdLst>
              <a:ahLst/>
              <a:cxnLst/>
              <a:rect l="textAreaLeft" t="textAreaTop" r="textAreaRight" b="textAreaBottom"/>
              <a:pathLst>
                <a:path w="5009322" h="780532">
                  <a:moveTo>
                    <a:pt x="0" y="0"/>
                  </a:moveTo>
                  <a:lnTo>
                    <a:pt x="5009322" y="0"/>
                  </a:lnTo>
                  <a:lnTo>
                    <a:pt x="5009322"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85" name="TextBox 13"/>
            <p:cNvSpPr/>
            <p:nvPr/>
          </p:nvSpPr>
          <p:spPr>
            <a:xfrm>
              <a:off x="13032360" y="9413640"/>
              <a:ext cx="3756600" cy="592200"/>
            </a:xfrm>
            <a:prstGeom prst="rect">
              <a:avLst/>
            </a:prstGeom>
            <a:noFill/>
            <a:ln w="0">
              <a:noFill/>
            </a:ln>
          </p:spPr>
          <p:style>
            <a:lnRef idx="0"/>
            <a:fillRef idx="0"/>
            <a:effectRef idx="0"/>
            <a:fontRef idx="minor"/>
          </p:style>
          <p:txBody>
            <a:bodyPr lIns="0" rIns="0" tIns="0" bIns="0" anchor="ctr">
              <a:noAutofit/>
            </a:bodyPr>
            <a:p>
              <a:pPr algn="r" defTabSz="914400">
                <a:lnSpc>
                  <a:spcPts val="2520"/>
                </a:lnSpc>
              </a:pPr>
              <a:r>
                <a:rPr b="0" lang="en-US" sz="2100" strike="noStrike" u="none">
                  <a:solidFill>
                    <a:srgbClr val="ffffff"/>
                  </a:solidFill>
                  <a:effectLst/>
                  <a:uFillTx/>
                  <a:latin typeface="Monotype Corsiva"/>
                  <a:ea typeface="Monotype Corsiva"/>
                </a:rPr>
                <a:t>Kreativitas Membangkitkan Inovasi</a:t>
              </a:r>
              <a:endParaRPr b="0" lang="en-US" sz="2100" strike="noStrike" u="none">
                <a:solidFill>
                  <a:srgbClr val="000000"/>
                </a:solidFill>
                <a:effectLst/>
                <a:uFillTx/>
                <a:latin typeface="Arial"/>
              </a:endParaRPr>
            </a:p>
          </p:txBody>
        </p:sp>
      </p:grpSp>
      <p:grpSp>
        <p:nvGrpSpPr>
          <p:cNvPr id="486" name="Group 14"/>
          <p:cNvGrpSpPr/>
          <p:nvPr/>
        </p:nvGrpSpPr>
        <p:grpSpPr>
          <a:xfrm>
            <a:off x="17480520" y="9324000"/>
            <a:ext cx="615960" cy="644760"/>
            <a:chOff x="17480520" y="9324000"/>
            <a:chExt cx="615960" cy="644760"/>
          </a:xfrm>
        </p:grpSpPr>
        <p:sp>
          <p:nvSpPr>
            <p:cNvPr id="487" name="Freeform 15"/>
            <p:cNvSpPr/>
            <p:nvPr/>
          </p:nvSpPr>
          <p:spPr>
            <a:xfrm>
              <a:off x="17480520" y="9359640"/>
              <a:ext cx="615960" cy="608760"/>
            </a:xfrm>
            <a:custGeom>
              <a:avLst/>
              <a:gdLst>
                <a:gd name="textAreaLeft" fmla="*/ 0 w 615960"/>
                <a:gd name="textAreaRight" fmla="*/ 616320 w 615960"/>
                <a:gd name="textAreaTop" fmla="*/ 0 h 608760"/>
                <a:gd name="textAreaBottom" fmla="*/ 609120 h 608760"/>
              </a:gdLst>
              <a:ahLst/>
              <a:cxnLst/>
              <a:rect l="textAreaLeft" t="textAreaTop" r="textAreaRight" b="textAreaBottom"/>
              <a:pathLst>
                <a:path w="821638" h="812334">
                  <a:moveTo>
                    <a:pt x="0" y="0"/>
                  </a:moveTo>
                  <a:lnTo>
                    <a:pt x="821638" y="0"/>
                  </a:lnTo>
                  <a:lnTo>
                    <a:pt x="821638" y="812334"/>
                  </a:lnTo>
                  <a:lnTo>
                    <a:pt x="0" y="812334"/>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88" name="TextBox 16"/>
            <p:cNvSpPr/>
            <p:nvPr/>
          </p:nvSpPr>
          <p:spPr>
            <a:xfrm>
              <a:off x="17480520" y="9324000"/>
              <a:ext cx="615960" cy="644760"/>
            </a:xfrm>
            <a:prstGeom prst="rect">
              <a:avLst/>
            </a:prstGeom>
            <a:noFill/>
            <a:ln w="0">
              <a:noFill/>
            </a:ln>
          </p:spPr>
          <p:style>
            <a:lnRef idx="0"/>
            <a:fillRef idx="0"/>
            <a:effectRef idx="0"/>
            <a:fontRef idx="minor"/>
          </p:style>
          <p:txBody>
            <a:bodyPr lIns="0" rIns="0" tIns="0" bIns="0" anchor="ctr">
              <a:noAutofit/>
            </a:bodyPr>
            <a:p>
              <a:pPr algn="ctr" defTabSz="914400">
                <a:lnSpc>
                  <a:spcPts val="2520"/>
                </a:lnSpc>
              </a:pPr>
              <a:r>
                <a:rPr b="0" lang="en-US" sz="2100" strike="noStrike" u="none">
                  <a:solidFill>
                    <a:srgbClr val="000000"/>
                  </a:solidFill>
                  <a:effectLst/>
                  <a:uFillTx/>
                  <a:latin typeface="Calibri (MS)"/>
                  <a:ea typeface="Calibri (MS)"/>
                </a:rPr>
                <a:t>‹#›</a:t>
              </a:r>
              <a:endParaRPr b="0" lang="en-US" sz="2100" strike="noStrike" u="none">
                <a:solidFill>
                  <a:srgbClr val="000000"/>
                </a:solidFill>
                <a:effectLst/>
                <a:uFillTx/>
                <a:latin typeface="Arial"/>
              </a:endParaRPr>
            </a:p>
          </p:txBody>
        </p:sp>
      </p:grpSp>
      <p:grpSp>
        <p:nvGrpSpPr>
          <p:cNvPr id="489" name="Group 17"/>
          <p:cNvGrpSpPr/>
          <p:nvPr/>
        </p:nvGrpSpPr>
        <p:grpSpPr>
          <a:xfrm>
            <a:off x="630720" y="9568800"/>
            <a:ext cx="1172520" cy="585000"/>
            <a:chOff x="630720" y="9568800"/>
            <a:chExt cx="1172520" cy="585000"/>
          </a:xfrm>
        </p:grpSpPr>
        <p:sp>
          <p:nvSpPr>
            <p:cNvPr id="490" name="Freeform 18"/>
            <p:cNvSpPr/>
            <p:nvPr/>
          </p:nvSpPr>
          <p:spPr>
            <a:xfrm>
              <a:off x="630720" y="9568800"/>
              <a:ext cx="1172520" cy="585000"/>
            </a:xfrm>
            <a:custGeom>
              <a:avLst/>
              <a:gdLst>
                <a:gd name="textAreaLeft" fmla="*/ 0 w 1172520"/>
                <a:gd name="textAreaRight" fmla="*/ 1172880 w 1172520"/>
                <a:gd name="textAreaTop" fmla="*/ 0 h 585000"/>
                <a:gd name="textAreaBottom" fmla="*/ 585360 h 585000"/>
              </a:gdLst>
              <a:ahLst/>
              <a:cxnLst/>
              <a:rect l="textAreaLeft" t="textAreaTop" r="textAreaRight" b="textAreaBottom"/>
              <a:pathLst>
                <a:path w="1563758" h="780532">
                  <a:moveTo>
                    <a:pt x="0" y="0"/>
                  </a:moveTo>
                  <a:lnTo>
                    <a:pt x="1563758" y="0"/>
                  </a:lnTo>
                  <a:lnTo>
                    <a:pt x="1563758" y="780532"/>
                  </a:lnTo>
                  <a:lnTo>
                    <a:pt x="0" y="780532"/>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91" name="TextBox 19"/>
            <p:cNvSpPr/>
            <p:nvPr/>
          </p:nvSpPr>
          <p:spPr>
            <a:xfrm>
              <a:off x="630720" y="9568800"/>
              <a:ext cx="1172520" cy="585000"/>
            </a:xfrm>
            <a:prstGeom prst="rect">
              <a:avLst/>
            </a:prstGeom>
            <a:noFill/>
            <a:ln w="0">
              <a:noFill/>
            </a:ln>
          </p:spPr>
          <p:style>
            <a:lnRef idx="0"/>
            <a:fillRef idx="0"/>
            <a:effectRef idx="0"/>
            <a:fontRef idx="minor"/>
          </p:style>
          <p:txBody>
            <a:bodyPr lIns="0" rIns="0" tIns="0" bIns="0" anchor="ctr">
              <a:noAutofit/>
            </a:bodyPr>
            <a:p>
              <a:pPr defTabSz="914400">
                <a:lnSpc>
                  <a:spcPts val="1981"/>
                </a:lnSpc>
              </a:pPr>
              <a:r>
                <a:rPr b="0" lang="en-US" sz="1650" strike="noStrike" u="none">
                  <a:solidFill>
                    <a:srgbClr val="ffffff"/>
                  </a:solidFill>
                  <a:effectLst/>
                  <a:uFillTx/>
                  <a:latin typeface="Monotype Corsiva"/>
                  <a:ea typeface="Monotype Corsiva"/>
                </a:rPr>
                <a:t>@adt_lotus</a:t>
              </a:r>
              <a:endParaRPr b="0" lang="en-US" sz="1650" strike="noStrike" u="none">
                <a:solidFill>
                  <a:srgbClr val="000000"/>
                </a:solidFill>
                <a:effectLst/>
                <a:uFillTx/>
                <a:latin typeface="Arial"/>
              </a:endParaRPr>
            </a:p>
          </p:txBody>
        </p:sp>
      </p:grpSp>
      <p:grpSp>
        <p:nvGrpSpPr>
          <p:cNvPr id="492" name="Group 20"/>
          <p:cNvGrpSpPr/>
          <p:nvPr/>
        </p:nvGrpSpPr>
        <p:grpSpPr>
          <a:xfrm>
            <a:off x="503640" y="9540360"/>
            <a:ext cx="456840" cy="485280"/>
            <a:chOff x="503640" y="9540360"/>
            <a:chExt cx="456840" cy="485280"/>
          </a:xfrm>
        </p:grpSpPr>
        <p:sp>
          <p:nvSpPr>
            <p:cNvPr id="493" name="Freeform 21"/>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94" name="Group 22"/>
            <p:cNvGrpSpPr/>
            <p:nvPr/>
          </p:nvGrpSpPr>
          <p:grpSpPr>
            <a:xfrm>
              <a:off x="503640" y="9540360"/>
              <a:ext cx="456840" cy="485280"/>
              <a:chOff x="503640" y="9540360"/>
              <a:chExt cx="456840" cy="485280"/>
            </a:xfrm>
          </p:grpSpPr>
          <p:sp>
            <p:nvSpPr>
              <p:cNvPr id="495" name="Freeform 23"/>
              <p:cNvSpPr/>
              <p:nvPr/>
            </p:nvSpPr>
            <p:spPr>
              <a:xfrm>
                <a:off x="50364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496" name="TextBox 24"/>
              <p:cNvSpPr/>
              <p:nvPr/>
            </p:nvSpPr>
            <p:spPr>
              <a:xfrm>
                <a:off x="503640" y="9540360"/>
                <a:ext cx="456840" cy="485280"/>
              </a:xfrm>
              <a:prstGeom prst="rect">
                <a:avLst/>
              </a:prstGeom>
              <a:noFill/>
              <a:ln w="0">
                <a:noFill/>
              </a:ln>
            </p:spPr>
            <p:style>
              <a:lnRef idx="0"/>
              <a:fillRef idx="0"/>
              <a:effectRef idx="0"/>
              <a:fontRef idx="minor"/>
            </p:style>
            <p:txBody>
              <a:bodyPr lIns="0" rIns="0" tIns="0" bIns="0" anchor="ctr">
                <a:noAutofit/>
              </a:bodyPr>
              <a:p>
                <a:pPr defTabSz="914400">
                  <a:lnSpc>
                    <a:spcPts val="2160"/>
                  </a:lnSpc>
                </a:pPr>
                <a:r>
                  <a:rPr b="1" lang="en-US" sz="1800" strike="noStrike" u="none">
                    <a:solidFill>
                      <a:srgbClr val="000000"/>
                    </a:solidFill>
                    <a:effectLst/>
                    <a:uFillTx/>
                    <a:latin typeface="Arial Bold"/>
                    <a:ea typeface="Arial Bold"/>
                  </a:rPr>
                  <a:t>&lt;</a:t>
                </a:r>
                <a:endParaRPr b="0" lang="en-US" sz="1800" strike="noStrike" u="none">
                  <a:solidFill>
                    <a:srgbClr val="000000"/>
                  </a:solidFill>
                  <a:effectLst/>
                  <a:uFillTx/>
                  <a:latin typeface="Arial"/>
                </a:endParaRPr>
              </a:p>
            </p:txBody>
          </p:sp>
        </p:grpSp>
      </p:grpSp>
      <p:grpSp>
        <p:nvGrpSpPr>
          <p:cNvPr id="497" name="Group 25"/>
          <p:cNvGrpSpPr/>
          <p:nvPr/>
        </p:nvGrpSpPr>
        <p:grpSpPr>
          <a:xfrm>
            <a:off x="1989360" y="9540360"/>
            <a:ext cx="456840" cy="485280"/>
            <a:chOff x="1989360" y="9540360"/>
            <a:chExt cx="456840" cy="485280"/>
          </a:xfrm>
        </p:grpSpPr>
        <p:sp>
          <p:nvSpPr>
            <p:cNvPr id="498" name="Freeform 26"/>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499" name="Group 27"/>
            <p:cNvGrpSpPr/>
            <p:nvPr/>
          </p:nvGrpSpPr>
          <p:grpSpPr>
            <a:xfrm>
              <a:off x="1989360" y="9540360"/>
              <a:ext cx="456840" cy="485280"/>
              <a:chOff x="1989360" y="9540360"/>
              <a:chExt cx="456840" cy="485280"/>
            </a:xfrm>
          </p:grpSpPr>
          <p:sp>
            <p:nvSpPr>
              <p:cNvPr id="500" name="Freeform 28"/>
              <p:cNvSpPr/>
              <p:nvPr/>
            </p:nvSpPr>
            <p:spPr>
              <a:xfrm>
                <a:off x="1989360" y="9568800"/>
                <a:ext cx="456840" cy="456840"/>
              </a:xfrm>
              <a:custGeom>
                <a:avLst/>
                <a:gdLst>
                  <a:gd name="textAreaLeft" fmla="*/ 0 w 456840"/>
                  <a:gd name="textAreaRight" fmla="*/ 457200 w 456840"/>
                  <a:gd name="textAreaTop" fmla="*/ 0 h 456840"/>
                  <a:gd name="textAreaBottom" fmla="*/ 457200 h 456840"/>
                </a:gdLst>
                <a:ahLst/>
                <a:cxnLst/>
                <a:rect l="textAreaLeft" t="textAreaTop" r="textAreaRight" b="textAreaBottom"/>
                <a:pathLst>
                  <a:path w="609600" h="609598">
                    <a:moveTo>
                      <a:pt x="0" y="0"/>
                    </a:moveTo>
                    <a:lnTo>
                      <a:pt x="609600" y="0"/>
                    </a:lnTo>
                    <a:lnTo>
                      <a:pt x="609600" y="609598"/>
                    </a:lnTo>
                    <a:lnTo>
                      <a:pt x="0" y="60959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501" name="TextBox 29"/>
              <p:cNvSpPr/>
              <p:nvPr/>
            </p:nvSpPr>
            <p:spPr>
              <a:xfrm>
                <a:off x="1989360" y="9540360"/>
                <a:ext cx="456840" cy="485280"/>
              </a:xfrm>
              <a:prstGeom prst="rect">
                <a:avLst/>
              </a:prstGeom>
              <a:noFill/>
              <a:ln w="0">
                <a:noFill/>
              </a:ln>
            </p:spPr>
            <p:style>
              <a:lnRef idx="0"/>
              <a:fillRef idx="0"/>
              <a:effectRef idx="0"/>
              <a:fontRef idx="minor"/>
            </p:style>
            <p:txBody>
              <a:bodyPr lIns="0" rIns="0" tIns="0" bIns="0" anchor="ctr">
                <a:noAutofit/>
              </a:bodyPr>
              <a:p>
                <a:pPr algn="r" defTabSz="914400">
                  <a:lnSpc>
                    <a:spcPts val="2160"/>
                  </a:lnSpc>
                </a:pPr>
                <a:r>
                  <a:rPr b="1" lang="en-US" sz="1800" strike="noStrike" u="none">
                    <a:solidFill>
                      <a:srgbClr val="000000"/>
                    </a:solidFill>
                    <a:effectLst/>
                    <a:uFillTx/>
                    <a:latin typeface="Arial Bold"/>
                    <a:ea typeface="Arial Bold"/>
                  </a:rPr>
                  <a:t>&gt;</a:t>
                </a:r>
                <a:endParaRPr b="0" lang="en-US" sz="1800" strike="noStrike" u="none">
                  <a:solidFill>
                    <a:srgbClr val="000000"/>
                  </a:solidFill>
                  <a:effectLst/>
                  <a:uFillTx/>
                  <a:latin typeface="Arial"/>
                </a:endParaRPr>
              </a:p>
            </p:txBody>
          </p:sp>
        </p:grpSp>
      </p:grpSp>
      <p:grpSp>
        <p:nvGrpSpPr>
          <p:cNvPr id="502" name="Group 30"/>
          <p:cNvGrpSpPr/>
          <p:nvPr/>
        </p:nvGrpSpPr>
        <p:grpSpPr>
          <a:xfrm>
            <a:off x="816480" y="9554760"/>
            <a:ext cx="665280" cy="471240"/>
            <a:chOff x="816480" y="9554760"/>
            <a:chExt cx="665280" cy="471240"/>
          </a:xfrm>
        </p:grpSpPr>
        <p:sp>
          <p:nvSpPr>
            <p:cNvPr id="503" name="Freeform 31"/>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504" name="Group 32"/>
            <p:cNvGrpSpPr/>
            <p:nvPr/>
          </p:nvGrpSpPr>
          <p:grpSpPr>
            <a:xfrm>
              <a:off x="816480" y="9554760"/>
              <a:ext cx="665280" cy="471240"/>
              <a:chOff x="816480" y="9554760"/>
              <a:chExt cx="665280" cy="471240"/>
            </a:xfrm>
          </p:grpSpPr>
          <p:sp>
            <p:nvSpPr>
              <p:cNvPr id="505" name="Freeform 33"/>
              <p:cNvSpPr/>
              <p:nvPr/>
            </p:nvSpPr>
            <p:spPr>
              <a:xfrm>
                <a:off x="8164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506" name="TextBox 34"/>
              <p:cNvSpPr/>
              <p:nvPr/>
            </p:nvSpPr>
            <p:spPr>
              <a:xfrm>
                <a:off x="816480" y="9554760"/>
                <a:ext cx="665280" cy="471240"/>
              </a:xfrm>
              <a:prstGeom prst="rect">
                <a:avLst/>
              </a:prstGeom>
              <a:noFill/>
              <a:ln w="0">
                <a:noFill/>
              </a:ln>
            </p:spPr>
            <p:style>
              <a:lnRef idx="0"/>
              <a:fillRef idx="0"/>
              <a:effectRef idx="0"/>
              <a:fontRef idx="minor"/>
            </p:style>
            <p:txBody>
              <a:bodyPr lIns="0" rIns="0" tIns="0" bIns="0" anchor="ctr">
                <a:noAutofit/>
              </a:bodyPr>
              <a:p>
                <a:pPr algn="r" defTabSz="914400">
                  <a:lnSpc>
                    <a:spcPts val="1440"/>
                  </a:lnSpc>
                </a:pPr>
                <a:r>
                  <a:rPr b="1" lang="en-US" sz="1200" strike="noStrike" u="none">
                    <a:solidFill>
                      <a:srgbClr val="000000"/>
                    </a:solidFill>
                    <a:effectLst/>
                    <a:uFillTx/>
                    <a:latin typeface="Calibri (MS) Bold"/>
                    <a:ea typeface="Calibri (MS) Bold"/>
                  </a:rPr>
                  <a:t>Menu</a:t>
                </a:r>
                <a:endParaRPr b="0" lang="en-US" sz="1200" strike="noStrike" u="none">
                  <a:solidFill>
                    <a:srgbClr val="000000"/>
                  </a:solidFill>
                  <a:effectLst/>
                  <a:uFillTx/>
                  <a:latin typeface="Arial"/>
                </a:endParaRPr>
              </a:p>
            </p:txBody>
          </p:sp>
        </p:grpSp>
      </p:grpSp>
      <p:grpSp>
        <p:nvGrpSpPr>
          <p:cNvPr id="507" name="Group 35"/>
          <p:cNvGrpSpPr/>
          <p:nvPr/>
        </p:nvGrpSpPr>
        <p:grpSpPr>
          <a:xfrm>
            <a:off x="1460880" y="9554760"/>
            <a:ext cx="665280" cy="471240"/>
            <a:chOff x="1460880" y="9554760"/>
            <a:chExt cx="665280" cy="471240"/>
          </a:xfrm>
        </p:grpSpPr>
        <p:sp>
          <p:nvSpPr>
            <p:cNvPr id="508" name="Freeform 36"/>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lnTo>
                    <a:pt x="0" y="0"/>
                  </a:lnTo>
                  <a:close/>
                </a:path>
              </a:pathLst>
            </a:custGeom>
            <a:blipFill rotWithShape="0">
              <a:blip r:embed="rId9">
                <a:extLst>
                  <a:ext uri="{96DAC541-7B7A-43D3-8B79-37D633B846F1}">
                    <asvg:svgBlip xmlns:asvg="http://schemas.microsoft.com/office/drawing/2016/SVG/main" r:embed="rId10"/>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nvGrpSpPr>
            <p:cNvPr id="509" name="Group 37"/>
            <p:cNvGrpSpPr/>
            <p:nvPr/>
          </p:nvGrpSpPr>
          <p:grpSpPr>
            <a:xfrm>
              <a:off x="1460880" y="9554760"/>
              <a:ext cx="665280" cy="471240"/>
              <a:chOff x="1460880" y="9554760"/>
              <a:chExt cx="665280" cy="471240"/>
            </a:xfrm>
          </p:grpSpPr>
          <p:sp>
            <p:nvSpPr>
              <p:cNvPr id="510" name="Freeform 38"/>
              <p:cNvSpPr/>
              <p:nvPr/>
            </p:nvSpPr>
            <p:spPr>
              <a:xfrm>
                <a:off x="1460880" y="9568800"/>
                <a:ext cx="665280" cy="456840"/>
              </a:xfrm>
              <a:custGeom>
                <a:avLst/>
                <a:gdLst>
                  <a:gd name="textAreaLeft" fmla="*/ 0 w 665280"/>
                  <a:gd name="textAreaRight" fmla="*/ 665640 w 665280"/>
                  <a:gd name="textAreaTop" fmla="*/ 0 h 456840"/>
                  <a:gd name="textAreaBottom" fmla="*/ 457200 h 456840"/>
                </a:gdLst>
                <a:ahLst/>
                <a:cxnLst/>
                <a:rect l="textAreaLeft" t="textAreaTop" r="textAreaRight" b="textAreaBottom"/>
                <a:pathLst>
                  <a:path w="887628" h="609600">
                    <a:moveTo>
                      <a:pt x="0" y="0"/>
                    </a:moveTo>
                    <a:lnTo>
                      <a:pt x="887628" y="0"/>
                    </a:lnTo>
                    <a:lnTo>
                      <a:pt x="887628" y="609600"/>
                    </a:lnTo>
                    <a:lnTo>
                      <a:pt x="0" y="609600"/>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511" name="TextBox 39"/>
              <p:cNvSpPr/>
              <p:nvPr/>
            </p:nvSpPr>
            <p:spPr>
              <a:xfrm>
                <a:off x="1460880" y="9554760"/>
                <a:ext cx="665280" cy="471240"/>
              </a:xfrm>
              <a:prstGeom prst="rect">
                <a:avLst/>
              </a:prstGeom>
              <a:noFill/>
              <a:ln w="0">
                <a:noFill/>
              </a:ln>
            </p:spPr>
            <p:style>
              <a:lnRef idx="0"/>
              <a:fillRef idx="0"/>
              <a:effectRef idx="0"/>
              <a:fontRef idx="minor"/>
            </p:style>
            <p:txBody>
              <a:bodyPr lIns="0" rIns="0" tIns="0" bIns="0" anchor="ctr">
                <a:noAutofit/>
              </a:bodyPr>
              <a:p>
                <a:pPr defTabSz="914400">
                  <a:lnSpc>
                    <a:spcPts val="1440"/>
                  </a:lnSpc>
                </a:pPr>
                <a:r>
                  <a:rPr b="1" lang="en-US" sz="1200" strike="noStrike" u="none">
                    <a:solidFill>
                      <a:srgbClr val="000000"/>
                    </a:solidFill>
                    <a:effectLst/>
                    <a:uFillTx/>
                    <a:latin typeface="Calibri (MS) Bold"/>
                    <a:ea typeface="Calibri (MS) Bold"/>
                  </a:rPr>
                  <a:t>Akhiri</a:t>
                </a:r>
                <a:endParaRPr b="0" lang="en-US" sz="1200" strike="noStrike" u="none">
                  <a:solidFill>
                    <a:srgbClr val="000000"/>
                  </a:solidFill>
                  <a:effectLst/>
                  <a:uFillTx/>
                  <a:latin typeface="Arial"/>
                </a:endParaRPr>
              </a:p>
            </p:txBody>
          </p:sp>
        </p:grpSp>
      </p:grpSp>
      <p:sp>
        <p:nvSpPr>
          <p:cNvPr id="512" name="Freeform 41"/>
          <p:cNvSpPr/>
          <p:nvPr/>
        </p:nvSpPr>
        <p:spPr>
          <a:xfrm>
            <a:off x="503640" y="22860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513" name="TextBox 43"/>
          <p:cNvSpPr/>
          <p:nvPr/>
        </p:nvSpPr>
        <p:spPr>
          <a:xfrm>
            <a:off x="507960" y="1690200"/>
            <a:ext cx="7566840" cy="353520"/>
          </a:xfrm>
          <a:prstGeom prst="rect">
            <a:avLst/>
          </a:prstGeom>
          <a:noFill/>
          <a:ln w="0">
            <a:noFill/>
          </a:ln>
        </p:spPr>
        <p:style>
          <a:lnRef idx="0"/>
          <a:fillRef idx="0"/>
          <a:effectRef idx="0"/>
          <a:fontRef idx="minor"/>
        </p:style>
        <p:txBody>
          <a:bodyPr lIns="0" rIns="0" tIns="0" bIns="0" anchor="t">
            <a:spAutoFit/>
          </a:bodyPr>
          <a:p>
            <a:pPr defTabSz="914400">
              <a:lnSpc>
                <a:spcPts val="2701"/>
              </a:lnSpc>
            </a:pPr>
            <a:r>
              <a:rPr b="1" lang="en-US" sz="2800" strike="noStrike" u="none">
                <a:solidFill>
                  <a:srgbClr val="000000"/>
                </a:solidFill>
                <a:effectLst/>
                <a:uFillTx/>
                <a:latin typeface="Abadi"/>
                <a:ea typeface="Arial"/>
              </a:rPr>
              <a:t>POPULASI DAN SAMPEL PENELITIAN </a:t>
            </a:r>
            <a:endParaRPr b="0" lang="en-US" sz="2800" strike="noStrike" u="none">
              <a:solidFill>
                <a:srgbClr val="000000"/>
              </a:solidFill>
              <a:effectLst/>
              <a:uFillTx/>
              <a:latin typeface="Arial"/>
            </a:endParaRPr>
          </a:p>
        </p:txBody>
      </p:sp>
      <p:grpSp>
        <p:nvGrpSpPr>
          <p:cNvPr id="514" name="Group 42"/>
          <p:cNvGrpSpPr/>
          <p:nvPr/>
        </p:nvGrpSpPr>
        <p:grpSpPr>
          <a:xfrm>
            <a:off x="503640" y="114480"/>
            <a:ext cx="15977160" cy="1164960"/>
            <a:chOff x="503640" y="114480"/>
            <a:chExt cx="15977160" cy="1164960"/>
          </a:xfrm>
        </p:grpSpPr>
        <p:sp>
          <p:nvSpPr>
            <p:cNvPr id="515" name="Freeform 43"/>
            <p:cNvSpPr/>
            <p:nvPr/>
          </p:nvSpPr>
          <p:spPr>
            <a:xfrm>
              <a:off x="503640" y="185760"/>
              <a:ext cx="15977160" cy="1093680"/>
            </a:xfrm>
            <a:custGeom>
              <a:avLst/>
              <a:gdLst>
                <a:gd name="textAreaLeft" fmla="*/ 0 w 15977160"/>
                <a:gd name="textAreaRight" fmla="*/ 15977520 w 15977160"/>
                <a:gd name="textAreaTop" fmla="*/ 0 h 1093680"/>
                <a:gd name="textAreaBottom" fmla="*/ 1094040 h 1093680"/>
              </a:gdLst>
              <a:ahLst/>
              <a:cxnLst/>
              <a:rect l="textAreaLeft" t="textAreaTop" r="textAreaRight" b="textAreaBottom"/>
              <a:pathLst>
                <a:path w="21303188" h="1458688">
                  <a:moveTo>
                    <a:pt x="0" y="0"/>
                  </a:moveTo>
                  <a:lnTo>
                    <a:pt x="21303188" y="0"/>
                  </a:lnTo>
                  <a:lnTo>
                    <a:pt x="21303188" y="1458688"/>
                  </a:lnTo>
                  <a:lnTo>
                    <a:pt x="0" y="1458688"/>
                  </a:lnTo>
                  <a:close/>
                </a:path>
              </a:pathLst>
            </a:custGeom>
            <a:no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sp>
          <p:nvSpPr>
            <p:cNvPr id="516" name="TextBox 44"/>
            <p:cNvSpPr/>
            <p:nvPr/>
          </p:nvSpPr>
          <p:spPr>
            <a:xfrm>
              <a:off x="503640" y="114480"/>
              <a:ext cx="15977160" cy="1164960"/>
            </a:xfrm>
            <a:prstGeom prst="rect">
              <a:avLst/>
            </a:prstGeom>
            <a:noFill/>
            <a:ln w="0">
              <a:noFill/>
            </a:ln>
          </p:spPr>
          <p:style>
            <a:lnRef idx="0"/>
            <a:fillRef idx="0"/>
            <a:effectRef idx="0"/>
            <a:fontRef idx="minor"/>
          </p:style>
          <p:txBody>
            <a:bodyPr lIns="0" rIns="0" tIns="0" bIns="0" anchor="ctr">
              <a:noAutofit/>
            </a:bodyPr>
            <a:p>
              <a:pPr algn="ctr" defTabSz="914400">
                <a:lnSpc>
                  <a:spcPts val="3283"/>
                </a:lnSpc>
              </a:pPr>
              <a:r>
                <a:rPr b="0" lang="en-US" sz="2400" spc="-136" strike="noStrike" u="none">
                  <a:solidFill>
                    <a:srgbClr val="c00000"/>
                  </a:solidFill>
                  <a:effectLst/>
                  <a:uFillTx/>
                  <a:latin typeface="Georgia"/>
                  <a:ea typeface="Bodoni FLF"/>
                </a:rPr>
                <a:t>Pengaruh Kepuasan Kerja, Budaya Organisasi dan Motivasi Terhadap Retensi Karyawan Dengan Kompensasi Sebagai Variabel Pemoderasi</a:t>
              </a:r>
              <a:endParaRPr b="0" lang="en-US" sz="2400" strike="noStrike" u="none">
                <a:solidFill>
                  <a:srgbClr val="000000"/>
                </a:solidFill>
                <a:effectLst/>
                <a:uFillTx/>
                <a:latin typeface="Arial"/>
              </a:endParaRPr>
            </a:p>
            <a:p>
              <a:pPr algn="ctr" defTabSz="914400">
                <a:lnSpc>
                  <a:spcPts val="3283"/>
                </a:lnSpc>
              </a:pPr>
              <a:r>
                <a:rPr b="0" lang="en-US" sz="2400" spc="-136" strike="noStrike" u="none">
                  <a:solidFill>
                    <a:srgbClr val="c00000"/>
                  </a:solidFill>
                  <a:effectLst/>
                  <a:uFillTx/>
                  <a:latin typeface="Georgia"/>
                  <a:ea typeface="Bodoni FLF"/>
                </a:rPr>
                <a:t> (Studi Pada PT. Eloda Mitra)</a:t>
              </a:r>
              <a:endParaRPr b="0" lang="en-US" sz="2400" strike="noStrike" u="none">
                <a:solidFill>
                  <a:srgbClr val="000000"/>
                </a:solidFill>
                <a:effectLst/>
                <a:uFillTx/>
                <a:latin typeface="Arial"/>
              </a:endParaRPr>
            </a:p>
          </p:txBody>
        </p:sp>
      </p:grpSp>
      <p:graphicFrame>
        <p:nvGraphicFramePr>
          <p:cNvPr id="517" name="Table 41"/>
          <p:cNvGraphicFramePr/>
          <p:nvPr/>
        </p:nvGraphicFramePr>
        <p:xfrm>
          <a:off x="304920" y="2098080"/>
          <a:ext cx="15199920" cy="6522840"/>
        </p:xfrm>
        <a:graphic>
          <a:graphicData uri="http://schemas.openxmlformats.org/drawingml/2006/table">
            <a:tbl>
              <a:tblPr/>
              <a:tblGrid>
                <a:gridCol w="1180440"/>
                <a:gridCol w="5607720"/>
                <a:gridCol w="8411400"/>
              </a:tblGrid>
              <a:tr h="407160">
                <a:tc>
                  <a:txBody>
                    <a:bodyPr lIns="5760" rIns="5760" tIns="5760" bIns="0" anchor="ctr">
                      <a:noAutofit/>
                    </a:bodyPr>
                    <a:p>
                      <a:pPr algn="ctr" defTabSz="914400">
                        <a:lnSpc>
                          <a:spcPct val="100000"/>
                        </a:lnSpc>
                      </a:pPr>
                      <a:r>
                        <a:rPr b="1" lang="en-US" sz="3200" strike="noStrike" u="none">
                          <a:solidFill>
                            <a:schemeClr val="dk1"/>
                          </a:solidFill>
                          <a:effectLst/>
                          <a:uFillTx/>
                          <a:latin typeface="Calibri"/>
                        </a:rPr>
                        <a:t>No</a:t>
                      </a:r>
                      <a:endParaRPr b="0" lang="en-US" sz="32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ctr">
                      <a:noAutofit/>
                    </a:bodyPr>
                    <a:p>
                      <a:pPr algn="ctr" defTabSz="914400">
                        <a:lnSpc>
                          <a:spcPct val="100000"/>
                        </a:lnSpc>
                      </a:pPr>
                      <a:r>
                        <a:rPr b="1" lang="en-US" sz="3200" strike="noStrike" u="none">
                          <a:solidFill>
                            <a:schemeClr val="dk1"/>
                          </a:solidFill>
                          <a:effectLst/>
                          <a:uFillTx/>
                          <a:latin typeface="Calibri"/>
                        </a:rPr>
                        <a:t>Keterangan</a:t>
                      </a:r>
                      <a:endParaRPr b="0" lang="en-US" sz="32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ctr">
                      <a:noAutofit/>
                    </a:bodyPr>
                    <a:p>
                      <a:pPr algn="ctr" defTabSz="914400">
                        <a:lnSpc>
                          <a:spcPct val="100000"/>
                        </a:lnSpc>
                      </a:pPr>
                      <a:r>
                        <a:rPr b="1" lang="en-US" sz="3200" strike="noStrike" u="none">
                          <a:solidFill>
                            <a:schemeClr val="dk1"/>
                          </a:solidFill>
                          <a:effectLst/>
                          <a:uFillTx/>
                          <a:latin typeface="Calibri"/>
                        </a:rPr>
                        <a:t>Rincian</a:t>
                      </a:r>
                      <a:endParaRPr b="0" lang="en-US" sz="32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r>
              <a:tr h="807840">
                <a:tc>
                  <a:txBody>
                    <a:bodyPr lIns="5760" rIns="5760" tIns="5760" bIns="0" anchor="ctr">
                      <a:noAutofit/>
                    </a:bodyPr>
                    <a:p>
                      <a:pPr algn="ctr" defTabSz="914400">
                        <a:lnSpc>
                          <a:spcPct val="100000"/>
                        </a:lnSpc>
                      </a:pPr>
                      <a:r>
                        <a:rPr b="0" lang="en-US" sz="2400" strike="noStrike" u="none">
                          <a:solidFill>
                            <a:schemeClr val="dk1"/>
                          </a:solidFill>
                          <a:effectLst/>
                          <a:uFillTx/>
                          <a:latin typeface="Calibri"/>
                        </a:rPr>
                        <a:t>1</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ctr">
                      <a:noAutofit/>
                    </a:bodyPr>
                    <a:p>
                      <a:pPr defTabSz="914400">
                        <a:lnSpc>
                          <a:spcPct val="100000"/>
                        </a:lnSpc>
                      </a:pPr>
                      <a:r>
                        <a:rPr b="0" lang="en-US" sz="2400" strike="noStrike" u="none">
                          <a:solidFill>
                            <a:schemeClr val="dk1"/>
                          </a:solidFill>
                          <a:effectLst/>
                          <a:uFillTx/>
                          <a:latin typeface="Calibri"/>
                        </a:rPr>
                        <a:t>Teknik Pengambilan Sampel</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t">
                      <a:noAutofit/>
                    </a:bodyPr>
                    <a:p>
                      <a:pPr defTabSz="914400">
                        <a:lnSpc>
                          <a:spcPct val="100000"/>
                        </a:lnSpc>
                      </a:pPr>
                      <a:r>
                        <a:rPr b="0" lang="en-US" sz="2400" strike="noStrike" u="none">
                          <a:solidFill>
                            <a:schemeClr val="dk1"/>
                          </a:solidFill>
                          <a:effectLst/>
                          <a:uFillTx/>
                          <a:latin typeface="Calibri"/>
                        </a:rPr>
                        <a:t>Non-probability sampling dengan pendekatan purposive sampling</a:t>
                      </a:r>
                      <a:endParaRPr b="0" lang="en-US" sz="2400" strike="noStrike" u="none">
                        <a:solidFill>
                          <a:srgbClr val="000000"/>
                        </a:solidFill>
                        <a:effectLst/>
                        <a:uFillTx/>
                        <a:latin typeface="Arial"/>
                      </a:endParaRPr>
                    </a:p>
                  </a:txBody>
                  <a:tcPr anchor="t"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r>
              <a:tr h="2010240">
                <a:tc>
                  <a:txBody>
                    <a:bodyPr lIns="5760" rIns="5760" tIns="5760" bIns="0" anchor="ctr">
                      <a:noAutofit/>
                    </a:bodyPr>
                    <a:p>
                      <a:pPr algn="ctr" defTabSz="914400">
                        <a:lnSpc>
                          <a:spcPct val="100000"/>
                        </a:lnSpc>
                      </a:pPr>
                      <a:r>
                        <a:rPr b="0" lang="en-US" sz="2400" strike="noStrike" u="none">
                          <a:solidFill>
                            <a:schemeClr val="dk1"/>
                          </a:solidFill>
                          <a:effectLst/>
                          <a:uFillTx/>
                          <a:latin typeface="Calibri"/>
                        </a:rPr>
                        <a:t>2</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ctr">
                      <a:noAutofit/>
                    </a:bodyPr>
                    <a:p>
                      <a:pPr defTabSz="914400">
                        <a:lnSpc>
                          <a:spcPct val="100000"/>
                        </a:lnSpc>
                      </a:pPr>
                      <a:r>
                        <a:rPr b="0" lang="en-US" sz="2400" strike="noStrike" u="none">
                          <a:solidFill>
                            <a:schemeClr val="dk1"/>
                          </a:solidFill>
                          <a:effectLst/>
                          <a:uFillTx/>
                          <a:latin typeface="Calibri"/>
                        </a:rPr>
                        <a:t>Kriteria Pemilihan Responden</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t">
                      <a:noAutofit/>
                    </a:bodyPr>
                    <a:p>
                      <a:pPr marL="285840" indent="-285840" defTabSz="914400">
                        <a:lnSpc>
                          <a:spcPct val="100000"/>
                        </a:lnSpc>
                        <a:buClr>
                          <a:srgbClr val="000000"/>
                        </a:buClr>
                        <a:buFont typeface="OpenSymbol"/>
                        <a:buChar char="-"/>
                      </a:pPr>
                      <a:r>
                        <a:rPr b="0" lang="en-ID" sz="2400" strike="noStrike" u="none">
                          <a:solidFill>
                            <a:schemeClr val="dk1"/>
                          </a:solidFill>
                          <a:effectLst/>
                          <a:uFillTx/>
                          <a:latin typeface="Calibri"/>
                        </a:rPr>
                        <a:t>Merupakan karyawan</a:t>
                      </a:r>
                      <a:r>
                        <a:rPr b="1" lang="en-ID" sz="2400" strike="noStrike" u="none">
                          <a:solidFill>
                            <a:schemeClr val="dk1"/>
                          </a:solidFill>
                          <a:effectLst/>
                          <a:uFillTx/>
                          <a:latin typeface="Calibri"/>
                        </a:rPr>
                        <a:t> </a:t>
                      </a:r>
                      <a:r>
                        <a:rPr b="0" lang="en-ID" sz="2400" strike="noStrike" u="none">
                          <a:solidFill>
                            <a:schemeClr val="dk1"/>
                          </a:solidFill>
                          <a:effectLst/>
                          <a:uFillTx/>
                          <a:latin typeface="Calibri"/>
                        </a:rPr>
                        <a:t>di</a:t>
                      </a:r>
                      <a:r>
                        <a:rPr b="1" lang="en-ID" sz="2400" strike="noStrike" u="none">
                          <a:solidFill>
                            <a:schemeClr val="dk1"/>
                          </a:solidFill>
                          <a:effectLst/>
                          <a:uFillTx/>
                          <a:latin typeface="Calibri"/>
                        </a:rPr>
                        <a:t> </a:t>
                      </a:r>
                      <a:r>
                        <a:rPr b="0" lang="en-ID" sz="2400" strike="noStrike" u="none">
                          <a:solidFill>
                            <a:schemeClr val="dk1"/>
                          </a:solidFill>
                          <a:effectLst/>
                          <a:uFillTx/>
                          <a:latin typeface="Calibri"/>
                        </a:rPr>
                        <a:t>PT. Eloda Mitra yang beroperasi di Cabang DC Tangerang (Jabodetabek Branch).</a:t>
                      </a:r>
                      <a:endParaRPr b="0" lang="en-US" sz="2400" strike="noStrike" u="none">
                        <a:solidFill>
                          <a:srgbClr val="000000"/>
                        </a:solidFill>
                        <a:effectLst/>
                        <a:uFillTx/>
                        <a:latin typeface="Arial"/>
                      </a:endParaRPr>
                    </a:p>
                    <a:p>
                      <a:pPr marL="285840" indent="-285840" defTabSz="914400">
                        <a:lnSpc>
                          <a:spcPct val="100000"/>
                        </a:lnSpc>
                        <a:buClr>
                          <a:srgbClr val="000000"/>
                        </a:buClr>
                        <a:buFont typeface="OpenSymbol"/>
                        <a:buChar char="-"/>
                      </a:pPr>
                      <a:r>
                        <a:rPr b="0" lang="en-ID" sz="2400" strike="noStrike" u="none">
                          <a:solidFill>
                            <a:schemeClr val="dk1"/>
                          </a:solidFill>
                          <a:effectLst/>
                          <a:uFillTx/>
                          <a:latin typeface="Calibri"/>
                        </a:rPr>
                        <a:t>Merupakan karyawan dengan status pekerja tetap di PT. </a:t>
                      </a:r>
                      <a:r>
                        <a:rPr b="0" lang="it-IT" sz="2400" strike="noStrike" u="none">
                          <a:solidFill>
                            <a:schemeClr val="dk1"/>
                          </a:solidFill>
                          <a:effectLst/>
                          <a:uFillTx/>
                          <a:latin typeface="Calibri"/>
                        </a:rPr>
                        <a:t>Eloda Mitra.</a:t>
                      </a:r>
                      <a:endParaRPr b="0" lang="en-US" sz="2400" strike="noStrike" u="none">
                        <a:solidFill>
                          <a:srgbClr val="000000"/>
                        </a:solidFill>
                        <a:effectLst/>
                        <a:uFillTx/>
                        <a:latin typeface="Arial"/>
                      </a:endParaRPr>
                    </a:p>
                    <a:p>
                      <a:pPr marL="285840" indent="-285840" defTabSz="914400">
                        <a:lnSpc>
                          <a:spcPct val="100000"/>
                        </a:lnSpc>
                        <a:buClr>
                          <a:srgbClr val="000000"/>
                        </a:buClr>
                        <a:buFont typeface="OpenSymbol"/>
                        <a:buChar char="-"/>
                      </a:pPr>
                      <a:r>
                        <a:rPr b="0" lang="en-ID" sz="2400" strike="noStrike" u="none">
                          <a:solidFill>
                            <a:schemeClr val="dk1"/>
                          </a:solidFill>
                          <a:effectLst/>
                          <a:uFillTx/>
                          <a:latin typeface="Calibri"/>
                        </a:rPr>
                        <a:t>Merupakan karyawan dengan masa kerja 5 tahun ke atas.</a:t>
                      </a:r>
                      <a:endParaRPr b="0" lang="en-US" sz="2400" strike="noStrike" u="none">
                        <a:solidFill>
                          <a:srgbClr val="000000"/>
                        </a:solidFill>
                        <a:effectLst/>
                        <a:uFillTx/>
                        <a:latin typeface="Arial"/>
                      </a:endParaRPr>
                    </a:p>
                    <a:p>
                      <a:pPr defTabSz="914400">
                        <a:lnSpc>
                          <a:spcPct val="100000"/>
                        </a:lnSpc>
                      </a:pPr>
                      <a:endParaRPr b="0" lang="en-US" sz="2400" strike="noStrike" u="none">
                        <a:solidFill>
                          <a:srgbClr val="000000"/>
                        </a:solidFill>
                        <a:effectLst/>
                        <a:uFillTx/>
                        <a:latin typeface="Arial"/>
                      </a:endParaRPr>
                    </a:p>
                  </a:txBody>
                  <a:tcPr anchor="t"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r>
              <a:tr h="1208520">
                <a:tc>
                  <a:txBody>
                    <a:bodyPr lIns="5760" rIns="5760" tIns="5760" bIns="0" anchor="ctr">
                      <a:noAutofit/>
                    </a:bodyPr>
                    <a:p>
                      <a:pPr algn="ctr" defTabSz="914400">
                        <a:lnSpc>
                          <a:spcPct val="100000"/>
                        </a:lnSpc>
                      </a:pPr>
                      <a:r>
                        <a:rPr b="0" lang="en-US" sz="2400" strike="noStrike" u="none">
                          <a:solidFill>
                            <a:schemeClr val="dk1"/>
                          </a:solidFill>
                          <a:effectLst/>
                          <a:uFillTx/>
                          <a:latin typeface="Calibri"/>
                        </a:rPr>
                        <a:t>3</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ctr">
                      <a:noAutofit/>
                    </a:bodyPr>
                    <a:p>
                      <a:pPr defTabSz="914400">
                        <a:lnSpc>
                          <a:spcPct val="100000"/>
                        </a:lnSpc>
                      </a:pPr>
                      <a:r>
                        <a:rPr b="0" lang="en-US" sz="2400" strike="noStrike" u="none">
                          <a:solidFill>
                            <a:schemeClr val="dk1"/>
                          </a:solidFill>
                          <a:effectLst/>
                          <a:uFillTx/>
                          <a:latin typeface="Calibri"/>
                        </a:rPr>
                        <a:t>Penentuan Jumlah Sampel</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t">
                      <a:noAutofit/>
                    </a:bodyPr>
                    <a:p>
                      <a:pPr defTabSz="914400">
                        <a:lnSpc>
                          <a:spcPct val="100000"/>
                        </a:lnSpc>
                      </a:pPr>
                      <a:r>
                        <a:rPr b="0" lang="en-US" sz="2400" strike="noStrike" u="none">
                          <a:solidFill>
                            <a:schemeClr val="dk1"/>
                          </a:solidFill>
                          <a:effectLst/>
                          <a:uFillTx/>
                          <a:latin typeface="Calibri"/>
                        </a:rPr>
                        <a:t>Mengacu pada Hair et al. (2024), jumlah minimum sampel untuk analisis SEM-PLS adalah 5–10 kali jumlah indikator penelitian</a:t>
                      </a:r>
                      <a:endParaRPr b="0" lang="en-US" sz="2400" strike="noStrike" u="none">
                        <a:solidFill>
                          <a:srgbClr val="000000"/>
                        </a:solidFill>
                        <a:effectLst/>
                        <a:uFillTx/>
                        <a:latin typeface="Arial"/>
                      </a:endParaRPr>
                    </a:p>
                  </a:txBody>
                  <a:tcPr anchor="t"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r>
              <a:tr h="603360">
                <a:tc>
                  <a:txBody>
                    <a:bodyPr lIns="5760" rIns="5760" tIns="5760" bIns="0" anchor="ctr">
                      <a:noAutofit/>
                    </a:bodyPr>
                    <a:p>
                      <a:pPr algn="ctr" defTabSz="914400">
                        <a:lnSpc>
                          <a:spcPct val="100000"/>
                        </a:lnSpc>
                      </a:pPr>
                      <a:r>
                        <a:rPr b="0" lang="en-US" sz="2400" strike="noStrike" u="none">
                          <a:solidFill>
                            <a:schemeClr val="dk1"/>
                          </a:solidFill>
                          <a:effectLst/>
                          <a:uFillTx/>
                          <a:latin typeface="Calibri"/>
                        </a:rPr>
                        <a:t>4</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ctr">
                      <a:noAutofit/>
                    </a:bodyPr>
                    <a:p>
                      <a:pPr defTabSz="914400">
                        <a:lnSpc>
                          <a:spcPct val="100000"/>
                        </a:lnSpc>
                      </a:pPr>
                      <a:r>
                        <a:rPr b="0" lang="en-US" sz="2400" strike="noStrike" u="none">
                          <a:solidFill>
                            <a:schemeClr val="dk1"/>
                          </a:solidFill>
                          <a:effectLst/>
                          <a:uFillTx/>
                          <a:latin typeface="Calibri"/>
                        </a:rPr>
                        <a:t>Jumlah Indikator Penelitian</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t">
                      <a:noAutofit/>
                    </a:bodyPr>
                    <a:p>
                      <a:pPr defTabSz="914400">
                        <a:lnSpc>
                          <a:spcPct val="100000"/>
                        </a:lnSpc>
                      </a:pPr>
                      <a:r>
                        <a:rPr b="0" lang="en-US" sz="2400" strike="noStrike" u="none">
                          <a:solidFill>
                            <a:schemeClr val="dk1"/>
                          </a:solidFill>
                          <a:effectLst/>
                          <a:uFillTx/>
                          <a:latin typeface="Calibri"/>
                        </a:rPr>
                        <a:t>25 indikator (gabungan dari variabel X1, X2, X3, Z, dan Y)</a:t>
                      </a:r>
                      <a:endParaRPr b="0" lang="en-US" sz="2400" strike="noStrike" u="none">
                        <a:solidFill>
                          <a:srgbClr val="000000"/>
                        </a:solidFill>
                        <a:effectLst/>
                        <a:uFillTx/>
                        <a:latin typeface="Arial"/>
                      </a:endParaRPr>
                    </a:p>
                  </a:txBody>
                  <a:tcPr anchor="t"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r>
              <a:tr h="1208520">
                <a:tc>
                  <a:txBody>
                    <a:bodyPr lIns="5760" rIns="5760" tIns="5760" bIns="0" anchor="ctr">
                      <a:noAutofit/>
                    </a:bodyPr>
                    <a:p>
                      <a:pPr algn="ctr" defTabSz="914400">
                        <a:lnSpc>
                          <a:spcPct val="100000"/>
                        </a:lnSpc>
                      </a:pPr>
                      <a:r>
                        <a:rPr b="0" lang="en-US" sz="2400" strike="noStrike" u="none">
                          <a:solidFill>
                            <a:schemeClr val="dk1"/>
                          </a:solidFill>
                          <a:effectLst/>
                          <a:uFillTx/>
                          <a:latin typeface="Calibri"/>
                        </a:rPr>
                        <a:t>5</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ctr">
                      <a:noAutofit/>
                    </a:bodyPr>
                    <a:p>
                      <a:pPr defTabSz="914400">
                        <a:lnSpc>
                          <a:spcPct val="100000"/>
                        </a:lnSpc>
                      </a:pPr>
                      <a:r>
                        <a:rPr b="0" lang="en-US" sz="2400" strike="noStrike" u="none">
                          <a:solidFill>
                            <a:schemeClr val="dk1"/>
                          </a:solidFill>
                          <a:effectLst/>
                          <a:uFillTx/>
                          <a:latin typeface="Calibri"/>
                        </a:rPr>
                        <a:t>Jumlah Sampel Minimum</a:t>
                      </a:r>
                      <a:endParaRPr b="0" lang="en-US" sz="2400" strike="noStrike" u="none">
                        <a:solidFill>
                          <a:srgbClr val="000000"/>
                        </a:solidFill>
                        <a:effectLst/>
                        <a:uFillTx/>
                        <a:latin typeface="Arial"/>
                      </a:endParaRPr>
                    </a:p>
                  </a:txBody>
                  <a:tcPr anchor="ctr"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c>
                  <a:txBody>
                    <a:bodyPr lIns="5760" rIns="5760" tIns="5760" bIns="0" anchor="t">
                      <a:noAutofit/>
                    </a:bodyPr>
                    <a:p>
                      <a:pPr defTabSz="914400">
                        <a:lnSpc>
                          <a:spcPct val="100000"/>
                        </a:lnSpc>
                      </a:pPr>
                      <a:r>
                        <a:rPr b="0" lang="en-US" sz="2400" strike="noStrike" u="none">
                          <a:solidFill>
                            <a:schemeClr val="dk1"/>
                          </a:solidFill>
                          <a:effectLst/>
                          <a:uFillTx/>
                          <a:latin typeface="Calibri"/>
                        </a:rPr>
                        <a:t>Minimum: 125responden</a:t>
                      </a:r>
                      <a:br>
                        <a:rPr sz="2400"/>
                      </a:br>
                      <a:r>
                        <a:rPr b="0" lang="en-US" sz="2400" strike="noStrike" u="none">
                          <a:solidFill>
                            <a:schemeClr val="dk1"/>
                          </a:solidFill>
                          <a:effectLst/>
                          <a:uFillTx/>
                          <a:latin typeface="Calibri"/>
                        </a:rPr>
                        <a:t>Maksimum: 250 responden</a:t>
                      </a:r>
                      <a:br>
                        <a:rPr sz="2400"/>
                      </a:br>
                      <a:r>
                        <a:rPr b="0" lang="en-US" sz="2400" strike="noStrike" u="none">
                          <a:solidFill>
                            <a:schemeClr val="dk1"/>
                          </a:solidFill>
                          <a:effectLst/>
                          <a:uFillTx/>
                          <a:latin typeface="Calibri"/>
                        </a:rPr>
                        <a:t>Jumlah yang diambil: ± 175-200 responden</a:t>
                      </a:r>
                      <a:endParaRPr b="0" lang="en-US" sz="2400" strike="noStrike" u="none">
                        <a:solidFill>
                          <a:srgbClr val="000000"/>
                        </a:solidFill>
                        <a:effectLst/>
                        <a:uFillTx/>
                        <a:latin typeface="Arial"/>
                      </a:endParaRPr>
                    </a:p>
                  </a:txBody>
                  <a:tcPr anchor="t" marL="5760" marR="5760">
                    <a:lnL w="12240">
                      <a:solidFill>
                        <a:srgbClr val="f79646"/>
                      </a:solidFill>
                      <a:prstDash val="solid"/>
                    </a:lnL>
                    <a:lnR w="12240">
                      <a:solidFill>
                        <a:srgbClr val="f79646"/>
                      </a:solidFill>
                      <a:prstDash val="solid"/>
                    </a:lnR>
                    <a:lnT w="12240">
                      <a:solidFill>
                        <a:srgbClr val="f79646"/>
                      </a:solidFill>
                      <a:prstDash val="solid"/>
                    </a:lnT>
                    <a:lnB w="12240">
                      <a:solidFill>
                        <a:srgbClr val="f79646"/>
                      </a:solidFill>
                      <a:prstDash val="solid"/>
                    </a:lnB>
                    <a:solidFill>
                      <a:schemeClr val="accent6">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18" name="Group 2"/>
          <p:cNvGrpSpPr/>
          <p:nvPr/>
        </p:nvGrpSpPr>
        <p:grpSpPr>
          <a:xfrm>
            <a:off x="21600" y="8652240"/>
            <a:ext cx="18265680" cy="1634400"/>
            <a:chOff x="21600" y="8652240"/>
            <a:chExt cx="18265680" cy="1634400"/>
          </a:xfrm>
        </p:grpSpPr>
        <p:sp>
          <p:nvSpPr>
            <p:cNvPr id="519" name="Freeform 3"/>
            <p:cNvSpPr/>
            <p:nvPr/>
          </p:nvSpPr>
          <p:spPr>
            <a:xfrm>
              <a:off x="21600" y="8652240"/>
              <a:ext cx="18265680" cy="1634400"/>
            </a:xfrm>
            <a:custGeom>
              <a:avLst/>
              <a:gdLst>
                <a:gd name="textAreaLeft" fmla="*/ 0 w 18265680"/>
                <a:gd name="textAreaRight" fmla="*/ 18266040 w 18265680"/>
                <a:gd name="textAreaTop" fmla="*/ 0 h 1634400"/>
                <a:gd name="textAreaBottom" fmla="*/ 1634760 h 1634400"/>
              </a:gdLst>
              <a:ahLst/>
              <a:cxnLst/>
              <a:rect l="textAreaLeft" t="textAreaTop" r="textAreaRight" b="textAreaBottom"/>
              <a:pathLst>
                <a:path w="24354917" h="2179447">
                  <a:moveTo>
                    <a:pt x="0" y="0"/>
                  </a:moveTo>
                  <a:lnTo>
                    <a:pt x="24354917" y="0"/>
                  </a:lnTo>
                  <a:lnTo>
                    <a:pt x="24354917" y="2179447"/>
                  </a:lnTo>
                  <a:lnTo>
                    <a:pt x="0" y="217944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
        <p:nvSpPr>
          <p:cNvPr id="520" name="TextBox 4"/>
          <p:cNvSpPr/>
          <p:nvPr/>
        </p:nvSpPr>
        <p:spPr>
          <a:xfrm>
            <a:off x="4053960" y="4390560"/>
            <a:ext cx="10180080" cy="1353960"/>
          </a:xfrm>
          <a:prstGeom prst="rect">
            <a:avLst/>
          </a:prstGeom>
          <a:noFill/>
          <a:ln w="0">
            <a:noFill/>
          </a:ln>
        </p:spPr>
        <p:style>
          <a:lnRef idx="0"/>
          <a:fillRef idx="0"/>
          <a:effectRef idx="0"/>
          <a:fontRef idx="minor"/>
        </p:style>
        <p:txBody>
          <a:bodyPr lIns="0" rIns="0" tIns="0" bIns="0" anchor="t">
            <a:spAutoFit/>
          </a:bodyPr>
          <a:p>
            <a:pPr algn="ctr" defTabSz="914400">
              <a:lnSpc>
                <a:spcPts val="9000"/>
              </a:lnSpc>
            </a:pPr>
            <a:r>
              <a:rPr b="0" lang="en-US" sz="7500" strike="noStrike" u="none">
                <a:solidFill>
                  <a:srgbClr val="000000"/>
                </a:solidFill>
                <a:effectLst/>
                <a:uFillTx/>
                <a:latin typeface="Arial"/>
                <a:ea typeface="Arial"/>
              </a:rPr>
              <a:t>Terima Kasih</a:t>
            </a:r>
            <a:endParaRPr b="0" lang="en-US" sz="7500" strike="noStrike" u="none">
              <a:solidFill>
                <a:srgbClr val="000000"/>
              </a:solidFill>
              <a:effectLst/>
              <a:uFillTx/>
              <a:latin typeface="Arial"/>
            </a:endParaRPr>
          </a:p>
        </p:txBody>
      </p:sp>
      <p:sp>
        <p:nvSpPr>
          <p:cNvPr id="521" name="AutoShape 5"/>
          <p:cNvSpPr/>
          <p:nvPr/>
        </p:nvSpPr>
        <p:spPr>
          <a:xfrm>
            <a:off x="3906000" y="5633640"/>
            <a:ext cx="10475640" cy="59400"/>
          </a:xfrm>
          <a:prstGeom prst="line">
            <a:avLst/>
          </a:prstGeom>
          <a:ln cap="rnd" w="28575">
            <a:solidFill>
              <a:srgbClr val="c00000"/>
            </a:solidFill>
            <a:round/>
          </a:ln>
        </p:spPr>
        <p:style>
          <a:lnRef idx="0"/>
          <a:fillRef idx="0"/>
          <a:effectRef idx="0"/>
          <a:fontRef idx="minor"/>
        </p:style>
        <p:txBody>
          <a:bodyPr lIns="90000" rIns="90000" tIns="14400" bIns="14400" anchor="t">
            <a:noAutofit/>
          </a:bodyPr>
          <a:p>
            <a:endParaRPr b="0" lang="en-ID" sz="1800" strike="noStrike" u="none">
              <a:solidFill>
                <a:schemeClr val="dk1"/>
              </a:solidFill>
              <a:effectLst/>
              <a:uFillTx/>
              <a:latin typeface="Calibri"/>
            </a:endParaRPr>
          </a:p>
        </p:txBody>
      </p:sp>
      <p:grpSp>
        <p:nvGrpSpPr>
          <p:cNvPr id="522" name="Group 6"/>
          <p:cNvGrpSpPr/>
          <p:nvPr/>
        </p:nvGrpSpPr>
        <p:grpSpPr>
          <a:xfrm>
            <a:off x="2024640" y="217440"/>
            <a:ext cx="5128920" cy="1014120"/>
            <a:chOff x="2024640" y="217440"/>
            <a:chExt cx="5128920" cy="1014120"/>
          </a:xfrm>
        </p:grpSpPr>
        <p:sp>
          <p:nvSpPr>
            <p:cNvPr id="523" name="Freeform 7"/>
            <p:cNvSpPr/>
            <p:nvPr/>
          </p:nvSpPr>
          <p:spPr>
            <a:xfrm>
              <a:off x="2024640" y="217440"/>
              <a:ext cx="5128920" cy="1014120"/>
            </a:xfrm>
            <a:custGeom>
              <a:avLst/>
              <a:gdLst>
                <a:gd name="textAreaLeft" fmla="*/ 0 w 5128920"/>
                <a:gd name="textAreaRight" fmla="*/ 5129280 w 5128920"/>
                <a:gd name="textAreaTop" fmla="*/ 0 h 1014120"/>
                <a:gd name="textAreaBottom" fmla="*/ 1014480 h 1014120"/>
              </a:gdLst>
              <a:ahLst/>
              <a:cxnLst/>
              <a:rect l="textAreaLeft" t="textAreaTop" r="textAreaRight" b="textAreaBottom"/>
              <a:pathLst>
                <a:path w="6838950" h="1352550">
                  <a:moveTo>
                    <a:pt x="0" y="0"/>
                  </a:moveTo>
                  <a:lnTo>
                    <a:pt x="6838950" y="0"/>
                  </a:lnTo>
                  <a:lnTo>
                    <a:pt x="6838950" y="1352550"/>
                  </a:lnTo>
                  <a:lnTo>
                    <a:pt x="0" y="135255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524" name="Group 8"/>
          <p:cNvGrpSpPr/>
          <p:nvPr/>
        </p:nvGrpSpPr>
        <p:grpSpPr>
          <a:xfrm>
            <a:off x="2024640" y="1318680"/>
            <a:ext cx="4200120" cy="356760"/>
            <a:chOff x="2024640" y="1318680"/>
            <a:chExt cx="4200120" cy="356760"/>
          </a:xfrm>
        </p:grpSpPr>
        <p:sp>
          <p:nvSpPr>
            <p:cNvPr id="525" name="Freeform 9"/>
            <p:cNvSpPr/>
            <p:nvPr/>
          </p:nvSpPr>
          <p:spPr>
            <a:xfrm>
              <a:off x="2024640" y="1318680"/>
              <a:ext cx="4200120" cy="356760"/>
            </a:xfrm>
            <a:custGeom>
              <a:avLst/>
              <a:gdLst>
                <a:gd name="textAreaLeft" fmla="*/ 0 w 4200120"/>
                <a:gd name="textAreaRight" fmla="*/ 4200480 w 4200120"/>
                <a:gd name="textAreaTop" fmla="*/ 0 h 356760"/>
                <a:gd name="textAreaBottom" fmla="*/ 357120 h 356760"/>
              </a:gdLst>
              <a:ahLst/>
              <a:cxnLst/>
              <a:rect l="textAreaLeft" t="textAreaTop" r="textAreaRight" b="textAreaBottom"/>
              <a:pathLst>
                <a:path w="5600700" h="476250">
                  <a:moveTo>
                    <a:pt x="0" y="0"/>
                  </a:moveTo>
                  <a:lnTo>
                    <a:pt x="5600700" y="0"/>
                  </a:lnTo>
                  <a:lnTo>
                    <a:pt x="5600700" y="476250"/>
                  </a:lnTo>
                  <a:lnTo>
                    <a:pt x="0" y="476250"/>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grpSp>
        <p:nvGrpSpPr>
          <p:cNvPr id="526" name="Group 10"/>
          <p:cNvGrpSpPr/>
          <p:nvPr/>
        </p:nvGrpSpPr>
        <p:grpSpPr>
          <a:xfrm>
            <a:off x="217800" y="56160"/>
            <a:ext cx="1746000" cy="1662840"/>
            <a:chOff x="217800" y="56160"/>
            <a:chExt cx="1746000" cy="1662840"/>
          </a:xfrm>
        </p:grpSpPr>
        <p:sp>
          <p:nvSpPr>
            <p:cNvPr id="527" name="Freeform 11"/>
            <p:cNvSpPr/>
            <p:nvPr/>
          </p:nvSpPr>
          <p:spPr>
            <a:xfrm>
              <a:off x="217800" y="56160"/>
              <a:ext cx="1746000" cy="1662840"/>
            </a:xfrm>
            <a:custGeom>
              <a:avLst/>
              <a:gdLst>
                <a:gd name="textAreaLeft" fmla="*/ 0 w 1746000"/>
                <a:gd name="textAreaRight" fmla="*/ 1746360 w 1746000"/>
                <a:gd name="textAreaTop" fmla="*/ 0 h 1662840"/>
                <a:gd name="textAreaBottom" fmla="*/ 1663200 h 1662840"/>
              </a:gdLst>
              <a:ahLst/>
              <a:cxnLst/>
              <a:rect l="textAreaLeft" t="textAreaTop" r="textAreaRight" b="textAreaBottom"/>
              <a:pathLst>
                <a:path w="2328545" h="2217420">
                  <a:moveTo>
                    <a:pt x="0" y="0"/>
                  </a:moveTo>
                  <a:lnTo>
                    <a:pt x="2328545" y="0"/>
                  </a:lnTo>
                  <a:lnTo>
                    <a:pt x="2328545" y="2217420"/>
                  </a:lnTo>
                  <a:lnTo>
                    <a:pt x="0" y="2217420"/>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ID" sz="1800" strike="noStrike" u="none">
                <a:solidFill>
                  <a:schemeClr val="dk1"/>
                </a:solidFill>
                <a:effectLst/>
                <a:uFillTx/>
                <a:latin typeface="Calibri"/>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541</TotalTime>
  <Application>LibreOffice/25.2.2.2$Linux_X86_64 LibreOffice_project/520$Build-2</Application>
  <AppVersion>15.0000</AppVersion>
  <Words>1997</Words>
  <Paragraphs>247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ASPI - Yanti</dc:creator>
  <dc:description/>
  <dc:identifier>DAGtCcbk8zQ</dc:identifier>
  <dc:language>en-US</dc:language>
  <cp:lastModifiedBy/>
  <dcterms:modified xsi:type="dcterms:W3CDTF">2025-08-13T20:52:41Z</dcterms:modified>
  <cp:revision>57</cp:revision>
  <dc:subject/>
  <dc:title>Sidang Proposal Tesis Darwin Tantowi.pptx</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vt:i4>
  </property>
  <property fmtid="{D5CDD505-2E9C-101B-9397-08002B2CF9AE}" pid="3" name="PresentationFormat">
    <vt:lpwstr>Custom</vt:lpwstr>
  </property>
  <property fmtid="{D5CDD505-2E9C-101B-9397-08002B2CF9AE}" pid="4" name="Slides">
    <vt:i4>12</vt:i4>
  </property>
</Properties>
</file>